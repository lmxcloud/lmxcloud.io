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Hi, I'm [name] from LMX Cloud. Web3 gets thrown around as a buzzword, but underneath the hype it's a handful of real engineering principles. In this video I'll walk through five of them, and show you exactly where each one shows up in the product we're building at LMX Cloud—not as theory, as shipped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for the viewer: five principles, each mapped to something real. And by the end we'll have assembled the whole LMX agent model—Wallet, Agent, Vault, Inference Router, all settled underneath by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 away the jargon and Web3 is really just this contrast. Not better or worse in every case—different trust model. Everything we cover next is one specific engineering answer to “how do you actually build the right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principle: decentralization. This is where LMX started—it's literally in the name of the product. The inference router doesn't call one cloud; it spreads requests across multiple independent DePIN networks and fails over between them live. That's decentralization as an engineering property, not a slogan.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principle: verifiable trust. In Web2 you trust the platform's dashboard. In Web3 you get a receipt you can check yourself. LMX anchors a Merkle proof to every call through Grid—and it's worth being precise here: it proves delivery, not correctness. We're not vetting output quality, we're proving the call happened as specified. That distinction matters a lot once other people start selling functions through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principle: programmable money. This is the one that unlocks agents as an economic actor, not just a human clicking a checkout button. Every agent on LMX gets a wallet, and Grid settles usage through x402—USDC, per call, automatically. That's the plumbing an agent economy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principle: self-custody. A vault could easily have been one LMX-hosted database—that would've been faster to build. We chose federated instead: every operator runs their own storage, LMX only keeps a thin pointer registry. Your agent's memory is genuinely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principle: composability. Instead of building one closed app, LMX exposes an MCP server that any agent framework can call, lists functions on the emerging x402 marketplaces, and ships an ElizaOS plugin. The bet is that showing up everywhere agents already are beats trying to be the one place they have to come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five principles together and you get LMX's actual reference architecture: Wallet, Agent, Vault, Inference Router—and Grid running underneath all four as the settlement and proof layer. This isn't a diagram we drew for a pitch deck after the fact; it's the template every new agent gets forked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any of this matter right now, in 2026? Because the buyer is changing. It's not just people clicking checkout anymore—it's agents transacting with other agents, needing to verify each other's work, and needing to own their own memory instead of renting it from a platform. Web3 principles aren't ideology here—they're the only architecture that actually works for machine-to-machine commerce.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this leave LMX Cloud right now? The router is live today and it's the wedge—free credits, developers kicking the tires, building demand. Underneath that, we're building out Vault, the reusable agent framework, and the MCP marketplace. Every one of those is a direct, shipped answer to one of the five principles we just walked through. The north star is simple: a cashflow-positive Cloud with a real developer ecosystem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tour—five Web3 principles, and a real product built on all five of them at once. If you want to see it running, the router's live at lmxcloud.io, the agent template is open source, and we're posting the build in public on X.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0B0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2.png"/><Relationship Id="rId5" Type="http://schemas.openxmlformats.org/officeDocument/2006/relationships/image" Target="../media/image-9-5.png"/><Relationship Id="rId6" Type="http://schemas.openxmlformats.org/officeDocument/2006/relationships/image" Target="../media/image-9-2.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flipV="1">
            <a:off x="9326880" y="365760"/>
            <a:ext cx="1005840" cy="182880"/>
          </a:xfrm>
          <a:prstGeom prst="line">
            <a:avLst/>
          </a:prstGeom>
          <a:noFill/>
          <a:ln w="9525">
            <a:solidFill>
              <a:srgbClr val="3A3D4A">
                <a:alpha val="65000"/>
              </a:srgbClr>
            </a:solidFill>
            <a:prstDash val="solid"/>
          </a:ln>
        </p:spPr>
      </p:sp>
      <p:sp>
        <p:nvSpPr>
          <p:cNvPr id="3" name="Shape 1"/>
          <p:cNvSpPr/>
          <p:nvPr/>
        </p:nvSpPr>
        <p:spPr>
          <a:xfrm>
            <a:off x="10332720" y="365760"/>
            <a:ext cx="1005840" cy="457200"/>
          </a:xfrm>
          <a:prstGeom prst="line">
            <a:avLst/>
          </a:prstGeom>
          <a:noFill/>
          <a:ln w="9525">
            <a:solidFill>
              <a:srgbClr val="3A3D4A">
                <a:alpha val="65000"/>
              </a:srgbClr>
            </a:solidFill>
            <a:prstDash val="solid"/>
          </a:ln>
        </p:spPr>
      </p:sp>
      <p:sp>
        <p:nvSpPr>
          <p:cNvPr id="4" name="Shape 2"/>
          <p:cNvSpPr/>
          <p:nvPr/>
        </p:nvSpPr>
        <p:spPr>
          <a:xfrm flipV="1">
            <a:off x="10607040" y="822960"/>
            <a:ext cx="731520" cy="548640"/>
          </a:xfrm>
          <a:prstGeom prst="line">
            <a:avLst/>
          </a:prstGeom>
          <a:noFill/>
          <a:ln w="9525">
            <a:solidFill>
              <a:srgbClr val="3A3D4A">
                <a:alpha val="65000"/>
              </a:srgbClr>
            </a:solidFill>
            <a:prstDash val="solid"/>
          </a:ln>
        </p:spPr>
      </p:sp>
      <p:sp>
        <p:nvSpPr>
          <p:cNvPr id="5" name="Shape 3"/>
          <p:cNvSpPr/>
          <p:nvPr/>
        </p:nvSpPr>
        <p:spPr>
          <a:xfrm>
            <a:off x="9326880" y="548640"/>
            <a:ext cx="1280160" cy="822960"/>
          </a:xfrm>
          <a:prstGeom prst="line">
            <a:avLst/>
          </a:prstGeom>
          <a:noFill/>
          <a:ln w="9525">
            <a:solidFill>
              <a:srgbClr val="3A3D4A">
                <a:alpha val="65000"/>
              </a:srgbClr>
            </a:solidFill>
            <a:prstDash val="solid"/>
          </a:ln>
        </p:spPr>
      </p:sp>
      <p:sp>
        <p:nvSpPr>
          <p:cNvPr id="6" name="Shape 4"/>
          <p:cNvSpPr/>
          <p:nvPr/>
        </p:nvSpPr>
        <p:spPr>
          <a:xfrm flipV="1">
            <a:off x="9601200" y="1371600"/>
            <a:ext cx="1005840" cy="91440"/>
          </a:xfrm>
          <a:prstGeom prst="line">
            <a:avLst/>
          </a:prstGeom>
          <a:noFill/>
          <a:ln w="9525">
            <a:solidFill>
              <a:srgbClr val="3A3D4A">
                <a:alpha val="65000"/>
              </a:srgbClr>
            </a:solidFill>
            <a:prstDash val="solid"/>
          </a:ln>
        </p:spPr>
      </p:sp>
      <p:sp>
        <p:nvSpPr>
          <p:cNvPr id="7" name="Shape 5"/>
          <p:cNvSpPr/>
          <p:nvPr/>
        </p:nvSpPr>
        <p:spPr>
          <a:xfrm>
            <a:off x="9326880" y="548640"/>
            <a:ext cx="274320" cy="914400"/>
          </a:xfrm>
          <a:prstGeom prst="line">
            <a:avLst/>
          </a:prstGeom>
          <a:noFill/>
          <a:ln w="9525">
            <a:solidFill>
              <a:srgbClr val="3A3D4A">
                <a:alpha val="65000"/>
              </a:srgbClr>
            </a:solidFill>
            <a:prstDash val="solid"/>
          </a:ln>
        </p:spPr>
      </p:sp>
      <p:sp>
        <p:nvSpPr>
          <p:cNvPr id="8" name="Shape 6"/>
          <p:cNvSpPr/>
          <p:nvPr/>
        </p:nvSpPr>
        <p:spPr>
          <a:xfrm>
            <a:off x="11338560" y="822960"/>
            <a:ext cx="274320" cy="914400"/>
          </a:xfrm>
          <a:prstGeom prst="line">
            <a:avLst/>
          </a:prstGeom>
          <a:noFill/>
          <a:ln w="9525">
            <a:solidFill>
              <a:srgbClr val="3A3D4A">
                <a:alpha val="65000"/>
              </a:srgbClr>
            </a:solidFill>
            <a:prstDash val="solid"/>
          </a:ln>
        </p:spPr>
      </p:sp>
      <p:sp>
        <p:nvSpPr>
          <p:cNvPr id="9" name="Shape 7"/>
          <p:cNvSpPr/>
          <p:nvPr/>
        </p:nvSpPr>
        <p:spPr>
          <a:xfrm flipV="1">
            <a:off x="10149840" y="1371600"/>
            <a:ext cx="457200" cy="731520"/>
          </a:xfrm>
          <a:prstGeom prst="line">
            <a:avLst/>
          </a:prstGeom>
          <a:noFill/>
          <a:ln w="9525">
            <a:solidFill>
              <a:srgbClr val="3A3D4A">
                <a:alpha val="65000"/>
              </a:srgbClr>
            </a:solidFill>
            <a:prstDash val="solid"/>
          </a:ln>
        </p:spPr>
      </p:sp>
      <p:sp>
        <p:nvSpPr>
          <p:cNvPr id="10" name="Shape 8"/>
          <p:cNvSpPr/>
          <p:nvPr/>
        </p:nvSpPr>
        <p:spPr>
          <a:xfrm>
            <a:off x="9601200" y="1463040"/>
            <a:ext cx="548640" cy="640080"/>
          </a:xfrm>
          <a:prstGeom prst="line">
            <a:avLst/>
          </a:prstGeom>
          <a:noFill/>
          <a:ln w="9525">
            <a:solidFill>
              <a:srgbClr val="3A3D4A">
                <a:alpha val="65000"/>
              </a:srgbClr>
            </a:solidFill>
            <a:prstDash val="solid"/>
          </a:ln>
        </p:spPr>
      </p:sp>
      <p:sp>
        <p:nvSpPr>
          <p:cNvPr id="11" name="Shape 9"/>
          <p:cNvSpPr/>
          <p:nvPr/>
        </p:nvSpPr>
        <p:spPr>
          <a:xfrm>
            <a:off x="9294876" y="516636"/>
            <a:ext cx="64008" cy="64008"/>
          </a:xfrm>
          <a:prstGeom prst="ellipse">
            <a:avLst/>
          </a:prstGeom>
          <a:solidFill>
            <a:srgbClr val="3DD7E5">
              <a:alpha val="75000"/>
            </a:srgbClr>
          </a:solidFill>
          <a:ln/>
        </p:spPr>
      </p:sp>
      <p:sp>
        <p:nvSpPr>
          <p:cNvPr id="12" name="Shape 10"/>
          <p:cNvSpPr/>
          <p:nvPr/>
        </p:nvSpPr>
        <p:spPr>
          <a:xfrm>
            <a:off x="10300716" y="333756"/>
            <a:ext cx="64008" cy="64008"/>
          </a:xfrm>
          <a:prstGeom prst="ellipse">
            <a:avLst/>
          </a:prstGeom>
          <a:solidFill>
            <a:srgbClr val="3DD7E5">
              <a:alpha val="75000"/>
            </a:srgbClr>
          </a:solidFill>
          <a:ln/>
        </p:spPr>
      </p:sp>
      <p:sp>
        <p:nvSpPr>
          <p:cNvPr id="13" name="Shape 11"/>
          <p:cNvSpPr/>
          <p:nvPr/>
        </p:nvSpPr>
        <p:spPr>
          <a:xfrm>
            <a:off x="11306556" y="790956"/>
            <a:ext cx="64008" cy="64008"/>
          </a:xfrm>
          <a:prstGeom prst="ellipse">
            <a:avLst/>
          </a:prstGeom>
          <a:solidFill>
            <a:srgbClr val="3DD7E5">
              <a:alpha val="75000"/>
            </a:srgbClr>
          </a:solidFill>
          <a:ln/>
        </p:spPr>
      </p:sp>
      <p:sp>
        <p:nvSpPr>
          <p:cNvPr id="14" name="Shape 12"/>
          <p:cNvSpPr/>
          <p:nvPr/>
        </p:nvSpPr>
        <p:spPr>
          <a:xfrm>
            <a:off x="10575036" y="1339596"/>
            <a:ext cx="64008" cy="64008"/>
          </a:xfrm>
          <a:prstGeom prst="ellipse">
            <a:avLst/>
          </a:prstGeom>
          <a:solidFill>
            <a:srgbClr val="3DD7E5">
              <a:alpha val="75000"/>
            </a:srgbClr>
          </a:solidFill>
          <a:ln/>
        </p:spPr>
      </p:sp>
      <p:sp>
        <p:nvSpPr>
          <p:cNvPr id="15" name="Shape 13"/>
          <p:cNvSpPr/>
          <p:nvPr/>
        </p:nvSpPr>
        <p:spPr>
          <a:xfrm>
            <a:off x="9569196" y="1431036"/>
            <a:ext cx="64008" cy="64008"/>
          </a:xfrm>
          <a:prstGeom prst="ellipse">
            <a:avLst/>
          </a:prstGeom>
          <a:solidFill>
            <a:srgbClr val="3DD7E5">
              <a:alpha val="75000"/>
            </a:srgbClr>
          </a:solidFill>
          <a:ln/>
        </p:spPr>
      </p:sp>
      <p:sp>
        <p:nvSpPr>
          <p:cNvPr id="16" name="Shape 14"/>
          <p:cNvSpPr/>
          <p:nvPr/>
        </p:nvSpPr>
        <p:spPr>
          <a:xfrm>
            <a:off x="11580876" y="1705356"/>
            <a:ext cx="64008" cy="64008"/>
          </a:xfrm>
          <a:prstGeom prst="ellipse">
            <a:avLst/>
          </a:prstGeom>
          <a:solidFill>
            <a:srgbClr val="3DD7E5">
              <a:alpha val="75000"/>
            </a:srgbClr>
          </a:solidFill>
          <a:ln/>
        </p:spPr>
      </p:sp>
      <p:sp>
        <p:nvSpPr>
          <p:cNvPr id="17" name="Shape 15"/>
          <p:cNvSpPr/>
          <p:nvPr/>
        </p:nvSpPr>
        <p:spPr>
          <a:xfrm>
            <a:off x="10117836" y="2071116"/>
            <a:ext cx="64008" cy="64008"/>
          </a:xfrm>
          <a:prstGeom prst="ellipse">
            <a:avLst/>
          </a:prstGeom>
          <a:solidFill>
            <a:srgbClr val="3DD7E5">
              <a:alpha val="75000"/>
            </a:srgbClr>
          </a:solidFill>
          <a:ln/>
        </p:spPr>
      </p:sp>
      <p:pic>
        <p:nvPicPr>
          <p:cNvPr id="18" name="Image 0" descr="/tmp/lmx_deck/assets/logo-lockup.png">    </p:cNvPr>
          <p:cNvPicPr>
            <a:picLocks noChangeAspect="1"/>
          </p:cNvPicPr>
          <p:nvPr/>
        </p:nvPicPr>
        <p:blipFill>
          <a:blip r:embed="rId1"/>
          <a:stretch>
            <a:fillRect/>
          </a:stretch>
        </p:blipFill>
        <p:spPr>
          <a:xfrm>
            <a:off x="4846320" y="502920"/>
            <a:ext cx="2496312" cy="2807208"/>
          </a:xfrm>
          <a:prstGeom prst="rect">
            <a:avLst/>
          </a:prstGeom>
        </p:spPr>
      </p:pic>
      <p:sp>
        <p:nvSpPr>
          <p:cNvPr id="19" name="Text 16"/>
          <p:cNvSpPr txBox="1"/>
          <p:nvPr/>
        </p:nvSpPr>
        <p:spPr>
          <a:xfrm>
            <a:off x="914400" y="3794760"/>
            <a:ext cx="10332720" cy="457200"/>
          </a:xfrm>
          <a:prstGeom prst="rect">
            <a:avLst/>
          </a:prstGeom>
          <a:noFill/>
          <a:ln/>
        </p:spPr>
        <p:txBody>
          <a:bodyPr wrap="square" lIns="0" tIns="0" rIns="0" bIns="0" rtlCol="0" anchor="ctr"/>
          <a:lstStyle/>
          <a:p>
            <a:pPr algn="ctr" indent="0" marL="0">
              <a:buNone/>
            </a:pPr>
            <a:r>
              <a:rPr lang="en-US" sz="1500" b="1" spc="300" kern="0" dirty="0">
                <a:solidFill>
                  <a:srgbClr val="3DD7E5"/>
                </a:solidFill>
                <a:latin typeface="Calibri" pitchFamily="34" charset="0"/>
                <a:ea typeface="Calibri" pitchFamily="34" charset="-122"/>
                <a:cs typeface="Calibri" pitchFamily="34" charset="-120"/>
              </a:rPr>
              <a:t>WEB3, DECODED</a:t>
            </a:r>
            <a:endParaRPr lang="en-US" sz="1500" dirty="0"/>
          </a:p>
        </p:txBody>
      </p:sp>
      <p:sp>
        <p:nvSpPr>
          <p:cNvPr id="20" name="Text 17"/>
          <p:cNvSpPr txBox="1"/>
          <p:nvPr/>
        </p:nvSpPr>
        <p:spPr>
          <a:xfrm>
            <a:off x="914400" y="4206240"/>
            <a:ext cx="10332720" cy="1371600"/>
          </a:xfrm>
          <a:prstGeom prst="rect">
            <a:avLst/>
          </a:prstGeom>
          <a:noFill/>
          <a:ln/>
        </p:spPr>
        <p:txBody>
          <a:bodyPr wrap="square" lIns="0" tIns="0" rIns="0" bIns="0" rtlCol="0" anchor="ctr"/>
          <a:lstStyle/>
          <a:p>
            <a:pPr algn="ctr" indent="0" marL="0">
              <a:lnSpc>
                <a:spcPts val="3800"/>
              </a:lnSpc>
              <a:buNone/>
            </a:pPr>
            <a:r>
              <a:rPr lang="en-US" sz="3200" b="1" dirty="0">
                <a:solidFill>
                  <a:srgbClr val="F2F4F8"/>
                </a:solidFill>
                <a:latin typeface="Calibri" pitchFamily="34" charset="0"/>
                <a:ea typeface="Calibri" pitchFamily="34" charset="-122"/>
                <a:cs typeface="Calibri" pitchFamily="34" charset="-120"/>
              </a:rPr>
              <a:t>The Principles Behind the Next Internet—</a:t>
            </a:r>
            <a:endParaRPr lang="en-US" sz="3200" dirty="0"/>
          </a:p>
          <a:p>
            <a:pPr algn="ctr" indent="0" marL="0">
              <a:lnSpc>
                <a:spcPts val="3800"/>
              </a:lnSpc>
              <a:buNone/>
            </a:pPr>
            <a:r>
              <a:rPr lang="en-US" sz="3200" b="1" dirty="0">
                <a:solidFill>
                  <a:srgbClr val="F2F4F8"/>
                </a:solidFill>
                <a:latin typeface="Calibri" pitchFamily="34" charset="0"/>
                <a:ea typeface="Calibri" pitchFamily="34" charset="-122"/>
                <a:cs typeface="Calibri" pitchFamily="34" charset="-120"/>
              </a:rPr>
              <a:t>and How LMX Cloud Is Building Them</a:t>
            </a:r>
            <a:endParaRPr lang="en-US" sz="3200" dirty="0"/>
          </a:p>
        </p:txBody>
      </p:sp>
      <p:sp>
        <p:nvSpPr>
          <p:cNvPr id="21" name="Text 18"/>
          <p:cNvSpPr txBox="1"/>
          <p:nvPr/>
        </p:nvSpPr>
        <p:spPr>
          <a:xfrm>
            <a:off x="1828800" y="5623560"/>
            <a:ext cx="8531352" cy="640080"/>
          </a:xfrm>
          <a:prstGeom prst="rect">
            <a:avLst/>
          </a:prstGeom>
          <a:noFill/>
          <a:ln/>
        </p:spPr>
        <p:txBody>
          <a:bodyPr wrap="square" lIns="0" tIns="0" rIns="0" bIns="0" rtlCol="0" anchor="ctr"/>
          <a:lstStyle/>
          <a:p>
            <a:pPr algn="ctr" indent="0" marL="0">
              <a:lnSpc>
                <a:spcPts val="1800"/>
              </a:lnSpc>
              <a:buNone/>
            </a:pPr>
            <a:r>
              <a:rPr lang="en-US" sz="1400" dirty="0">
                <a:solidFill>
                  <a:srgbClr val="9AA0AE"/>
                </a:solidFill>
                <a:latin typeface="Calibri" pitchFamily="34" charset="0"/>
                <a:ea typeface="Calibri" pitchFamily="34" charset="-122"/>
                <a:cs typeface="Calibri" pitchFamily="34" charset="-120"/>
              </a:rPr>
              <a:t>A field guide to decentralization, verifiable trust, and machine-native money—told through the DePIN inference network LMX is shipping today.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algn="l" indent="0" marL="0">
              <a:buNone/>
            </a:pPr>
            <a:r>
              <a:rPr lang="en-US" sz="1300" b="1" spc="200" kern="0" dirty="0">
                <a:solidFill>
                  <a:srgbClr val="3DD7E5"/>
                </a:solidFill>
                <a:latin typeface="Calibri" pitchFamily="34" charset="0"/>
                <a:ea typeface="Calibri" pitchFamily="34" charset="-122"/>
                <a:cs typeface="Calibri" pitchFamily="34" charset="-120"/>
              </a:rPr>
              <a:t>WHAT WE'LL COVER</a:t>
            </a:r>
            <a:endParaRPr lang="en-US" sz="1300" dirty="0"/>
          </a:p>
        </p:txBody>
      </p:sp>
      <p:sp>
        <p:nvSpPr>
          <p:cNvPr id="3" name="Text 1"/>
          <p:cNvSpPr txBox="1"/>
          <p:nvPr/>
        </p:nvSpPr>
        <p:spPr>
          <a:xfrm>
            <a:off x="640080" y="777240"/>
            <a:ext cx="9601200" cy="914400"/>
          </a:xfrm>
          <a:prstGeom prst="rect">
            <a:avLst/>
          </a:prstGeom>
          <a:noFill/>
          <a:ln/>
        </p:spPr>
        <p:txBody>
          <a:bodyPr wrap="square" lIns="0" tIns="0" rIns="0" bIns="0" rtlCol="0" anchor="ctr"/>
          <a:lstStyle/>
          <a:p>
            <a:pPr algn="l" indent="0" marL="0">
              <a:lnSpc>
                <a:spcPts val="3600"/>
              </a:lnSpc>
              <a:buNone/>
            </a:pPr>
            <a:r>
              <a:rPr lang="en-US" sz="3400" b="1" dirty="0">
                <a:solidFill>
                  <a:srgbClr val="F2F4F8"/>
                </a:solidFill>
                <a:latin typeface="Calibri" pitchFamily="34" charset="0"/>
                <a:ea typeface="Calibri" pitchFamily="34" charset="-122"/>
                <a:cs typeface="Calibri" pitchFamily="34" charset="-120"/>
              </a:rPr>
              <a:t>Five principles. One architecture.</a:t>
            </a:r>
            <a:endParaRPr lang="en-US" sz="3400" dirty="0"/>
          </a:p>
        </p:txBody>
      </p:sp>
      <p:sp>
        <p:nvSpPr>
          <p:cNvPr id="4" name="Text 2"/>
          <p:cNvSpPr txBox="1"/>
          <p:nvPr/>
        </p:nvSpPr>
        <p:spPr>
          <a:xfrm>
            <a:off x="640080" y="1508760"/>
            <a:ext cx="10515600" cy="457200"/>
          </a:xfrm>
          <a:prstGeom prst="rect">
            <a:avLst/>
          </a:prstGeom>
          <a:noFill/>
          <a:ln/>
        </p:spPr>
        <p:txBody>
          <a:bodyPr wrap="square" lIns="0" tIns="0" rIns="0" bIns="0" rtlCol="0" anchor="ctr"/>
          <a:lstStyle/>
          <a:p>
            <a:pPr indent="0" marL="0">
              <a:buNone/>
            </a:pPr>
            <a:r>
              <a:rPr lang="en-US" sz="1400" dirty="0">
                <a:solidFill>
                  <a:srgbClr val="9AA0AE"/>
                </a:solidFill>
                <a:latin typeface="Calibri" pitchFamily="34" charset="0"/>
                <a:ea typeface="Calibri" pitchFamily="34" charset="-122"/>
                <a:cs typeface="Calibri" pitchFamily="34" charset="-120"/>
              </a:rPr>
              <a:t>We'll define each Web3 principle in plain terms, then point at the exact piece of LMX Cloud that embodies it.</a:t>
            </a:r>
            <a:endParaRPr lang="en-US" sz="1400" dirty="0"/>
          </a:p>
        </p:txBody>
      </p:sp>
      <p:sp>
        <p:nvSpPr>
          <p:cNvPr id="5" name="Shape 3"/>
          <p:cNvSpPr/>
          <p:nvPr/>
        </p:nvSpPr>
        <p:spPr>
          <a:xfrm>
            <a:off x="685800" y="2286000"/>
            <a:ext cx="566928" cy="566928"/>
          </a:xfrm>
          <a:prstGeom prst="ellipse">
            <a:avLst/>
          </a:prstGeom>
          <a:solidFill>
            <a:srgbClr val="1E2029"/>
          </a:solidFill>
          <a:ln w="19050">
            <a:solidFill>
              <a:srgbClr val="3DD7E5"/>
            </a:solidFill>
            <a:prstDash val="solid"/>
          </a:ln>
        </p:spPr>
      </p:sp>
      <p:pic>
        <p:nvPicPr>
          <p:cNvPr id="6" name="Image 0" descr="/tmp/lmx_deck/assets/icon-decentralization.png">    </p:cNvPr>
          <p:cNvPicPr>
            <a:picLocks noChangeAspect="1"/>
          </p:cNvPicPr>
          <p:nvPr/>
        </p:nvPicPr>
        <p:blipFill>
          <a:blip r:embed="rId1"/>
          <a:stretch>
            <a:fillRect/>
          </a:stretch>
        </p:blipFill>
        <p:spPr>
          <a:xfrm>
            <a:off x="821863" y="2422063"/>
            <a:ext cx="294803" cy="294803"/>
          </a:xfrm>
          <a:prstGeom prst="rect">
            <a:avLst/>
          </a:prstGeom>
        </p:spPr>
      </p:pic>
      <p:sp>
        <p:nvSpPr>
          <p:cNvPr id="7" name="Text 4"/>
          <p:cNvSpPr txBox="1"/>
          <p:nvPr/>
        </p:nvSpPr>
        <p:spPr>
          <a:xfrm>
            <a:off x="1417320" y="2286000"/>
            <a:ext cx="548640" cy="566928"/>
          </a:xfrm>
          <a:prstGeom prst="rect">
            <a:avLst/>
          </a:prstGeom>
          <a:noFill/>
          <a:ln/>
        </p:spPr>
        <p:txBody>
          <a:bodyPr wrap="square" lIns="0" tIns="0" rIns="0" bIns="0" rtlCol="0" anchor="ctr"/>
          <a:lstStyle/>
          <a:p>
            <a:pPr algn="l" indent="0" marL="0">
              <a:buNone/>
            </a:pPr>
            <a:r>
              <a:rPr lang="en-US" sz="1600" b="1" dirty="0">
                <a:solidFill>
                  <a:srgbClr val="5C6170"/>
                </a:solidFill>
                <a:latin typeface="Calibri" pitchFamily="34" charset="0"/>
                <a:ea typeface="Calibri" pitchFamily="34" charset="-122"/>
                <a:cs typeface="Calibri" pitchFamily="34" charset="-120"/>
              </a:rPr>
              <a:t>01</a:t>
            </a:r>
            <a:endParaRPr lang="en-US" sz="1600" dirty="0"/>
          </a:p>
        </p:txBody>
      </p:sp>
      <p:sp>
        <p:nvSpPr>
          <p:cNvPr id="8" name="Text 5"/>
          <p:cNvSpPr txBox="1"/>
          <p:nvPr/>
        </p:nvSpPr>
        <p:spPr>
          <a:xfrm>
            <a:off x="2011680" y="2249424"/>
            <a:ext cx="3657600" cy="365760"/>
          </a:xfrm>
          <a:prstGeom prst="rect">
            <a:avLst/>
          </a:prstGeom>
          <a:noFill/>
          <a:ln/>
        </p:spPr>
        <p:txBody>
          <a:bodyPr wrap="square" lIns="0" tIns="0" rIns="0" bIns="0" rtlCol="0" anchor="ctr"/>
          <a:lstStyle/>
          <a:p>
            <a:pPr indent="0" marL="0">
              <a:buNone/>
            </a:pPr>
            <a:r>
              <a:rPr lang="en-US" sz="1700" b="1" dirty="0">
                <a:solidFill>
                  <a:srgbClr val="F2F4F8"/>
                </a:solidFill>
                <a:latin typeface="Calibri" pitchFamily="34" charset="0"/>
                <a:ea typeface="Calibri" pitchFamily="34" charset="-122"/>
                <a:cs typeface="Calibri" pitchFamily="34" charset="-120"/>
              </a:rPr>
              <a:t>Decentralization</a:t>
            </a:r>
            <a:endParaRPr lang="en-US" sz="1700" dirty="0"/>
          </a:p>
        </p:txBody>
      </p:sp>
      <p:sp>
        <p:nvSpPr>
          <p:cNvPr id="9" name="Text 6"/>
          <p:cNvSpPr txBox="1"/>
          <p:nvPr/>
        </p:nvSpPr>
        <p:spPr>
          <a:xfrm>
            <a:off x="2011680" y="2596896"/>
            <a:ext cx="5943600" cy="365760"/>
          </a:xfrm>
          <a:prstGeom prst="rect">
            <a:avLst/>
          </a:prstGeom>
          <a:noFill/>
          <a:ln/>
        </p:spPr>
        <p:txBody>
          <a:bodyPr wrap="square" lIns="0" tIns="0" rIns="0" bIns="0" rtlCol="0" anchor="t"/>
          <a:lstStyle/>
          <a:p>
            <a:pPr indent="0" marL="0">
              <a:buNone/>
            </a:pPr>
            <a:r>
              <a:rPr lang="en-US" sz="1250" dirty="0">
                <a:solidFill>
                  <a:srgbClr val="9AA0AE"/>
                </a:solidFill>
                <a:latin typeface="Calibri" pitchFamily="34" charset="0"/>
                <a:ea typeface="Calibri" pitchFamily="34" charset="-122"/>
                <a:cs typeface="Calibri" pitchFamily="34" charset="-120"/>
              </a:rPr>
              <a:t>No single point of control or failure</a:t>
            </a:r>
            <a:endParaRPr lang="en-US" sz="1250" dirty="0"/>
          </a:p>
        </p:txBody>
      </p:sp>
      <p:sp>
        <p:nvSpPr>
          <p:cNvPr id="10" name="Shape 7"/>
          <p:cNvSpPr/>
          <p:nvPr/>
        </p:nvSpPr>
        <p:spPr>
          <a:xfrm>
            <a:off x="685800" y="3072384"/>
            <a:ext cx="566928" cy="566928"/>
          </a:xfrm>
          <a:prstGeom prst="ellipse">
            <a:avLst/>
          </a:prstGeom>
          <a:solidFill>
            <a:srgbClr val="1E2029"/>
          </a:solidFill>
          <a:ln w="19050">
            <a:solidFill>
              <a:srgbClr val="3DD7E5"/>
            </a:solidFill>
            <a:prstDash val="solid"/>
          </a:ln>
        </p:spPr>
      </p:sp>
      <p:pic>
        <p:nvPicPr>
          <p:cNvPr id="11" name="Image 1" descr="/tmp/lmx_deck/assets/icon-trust.png">    </p:cNvPr>
          <p:cNvPicPr>
            <a:picLocks noChangeAspect="1"/>
          </p:cNvPicPr>
          <p:nvPr/>
        </p:nvPicPr>
        <p:blipFill>
          <a:blip r:embed="rId2"/>
          <a:stretch>
            <a:fillRect/>
          </a:stretch>
        </p:blipFill>
        <p:spPr>
          <a:xfrm>
            <a:off x="821863" y="3208447"/>
            <a:ext cx="294803" cy="294803"/>
          </a:xfrm>
          <a:prstGeom prst="rect">
            <a:avLst/>
          </a:prstGeom>
        </p:spPr>
      </p:pic>
      <p:sp>
        <p:nvSpPr>
          <p:cNvPr id="12" name="Text 8"/>
          <p:cNvSpPr txBox="1"/>
          <p:nvPr/>
        </p:nvSpPr>
        <p:spPr>
          <a:xfrm>
            <a:off x="1417320" y="3072384"/>
            <a:ext cx="548640" cy="566928"/>
          </a:xfrm>
          <a:prstGeom prst="rect">
            <a:avLst/>
          </a:prstGeom>
          <a:noFill/>
          <a:ln/>
        </p:spPr>
        <p:txBody>
          <a:bodyPr wrap="square" lIns="0" tIns="0" rIns="0" bIns="0" rtlCol="0" anchor="ctr"/>
          <a:lstStyle/>
          <a:p>
            <a:pPr algn="l" indent="0" marL="0">
              <a:buNone/>
            </a:pPr>
            <a:r>
              <a:rPr lang="en-US" sz="1600" b="1" dirty="0">
                <a:solidFill>
                  <a:srgbClr val="5C6170"/>
                </a:solidFill>
                <a:latin typeface="Calibri" pitchFamily="34" charset="0"/>
                <a:ea typeface="Calibri" pitchFamily="34" charset="-122"/>
                <a:cs typeface="Calibri" pitchFamily="34" charset="-120"/>
              </a:rPr>
              <a:t>02</a:t>
            </a:r>
            <a:endParaRPr lang="en-US" sz="1600" dirty="0"/>
          </a:p>
        </p:txBody>
      </p:sp>
      <p:sp>
        <p:nvSpPr>
          <p:cNvPr id="13" name="Text 9"/>
          <p:cNvSpPr txBox="1"/>
          <p:nvPr/>
        </p:nvSpPr>
        <p:spPr>
          <a:xfrm>
            <a:off x="2011680" y="3035808"/>
            <a:ext cx="3657600" cy="365760"/>
          </a:xfrm>
          <a:prstGeom prst="rect">
            <a:avLst/>
          </a:prstGeom>
          <a:noFill/>
          <a:ln/>
        </p:spPr>
        <p:txBody>
          <a:bodyPr wrap="square" lIns="0" tIns="0" rIns="0" bIns="0" rtlCol="0" anchor="ctr"/>
          <a:lstStyle/>
          <a:p>
            <a:pPr indent="0" marL="0">
              <a:buNone/>
            </a:pPr>
            <a:r>
              <a:rPr lang="en-US" sz="1700" b="1" dirty="0">
                <a:solidFill>
                  <a:srgbClr val="F2F4F8"/>
                </a:solidFill>
                <a:latin typeface="Calibri" pitchFamily="34" charset="0"/>
                <a:ea typeface="Calibri" pitchFamily="34" charset="-122"/>
                <a:cs typeface="Calibri" pitchFamily="34" charset="-120"/>
              </a:rPr>
              <a:t>Verifiable Trust</a:t>
            </a:r>
            <a:endParaRPr lang="en-US" sz="1700" dirty="0"/>
          </a:p>
        </p:txBody>
      </p:sp>
      <p:sp>
        <p:nvSpPr>
          <p:cNvPr id="14" name="Text 10"/>
          <p:cNvSpPr txBox="1"/>
          <p:nvPr/>
        </p:nvSpPr>
        <p:spPr>
          <a:xfrm>
            <a:off x="2011680" y="3383280"/>
            <a:ext cx="5943600" cy="365760"/>
          </a:xfrm>
          <a:prstGeom prst="rect">
            <a:avLst/>
          </a:prstGeom>
          <a:noFill/>
          <a:ln/>
        </p:spPr>
        <p:txBody>
          <a:bodyPr wrap="square" lIns="0" tIns="0" rIns="0" bIns="0" rtlCol="0" anchor="t"/>
          <a:lstStyle/>
          <a:p>
            <a:pPr indent="0" marL="0">
              <a:buNone/>
            </a:pPr>
            <a:r>
              <a:rPr lang="en-US" sz="1250" dirty="0">
                <a:solidFill>
                  <a:srgbClr val="9AA0AE"/>
                </a:solidFill>
                <a:latin typeface="Calibri" pitchFamily="34" charset="0"/>
                <a:ea typeface="Calibri" pitchFamily="34" charset="-122"/>
                <a:cs typeface="Calibri" pitchFamily="34" charset="-120"/>
              </a:rPr>
              <a:t>Cryptographic proof instead of blind faith</a:t>
            </a:r>
            <a:endParaRPr lang="en-US" sz="1250" dirty="0"/>
          </a:p>
        </p:txBody>
      </p:sp>
      <p:sp>
        <p:nvSpPr>
          <p:cNvPr id="15" name="Shape 11"/>
          <p:cNvSpPr/>
          <p:nvPr/>
        </p:nvSpPr>
        <p:spPr>
          <a:xfrm>
            <a:off x="685800" y="3858768"/>
            <a:ext cx="566928" cy="566928"/>
          </a:xfrm>
          <a:prstGeom prst="ellipse">
            <a:avLst/>
          </a:prstGeom>
          <a:solidFill>
            <a:srgbClr val="1E2029"/>
          </a:solidFill>
          <a:ln w="19050">
            <a:solidFill>
              <a:srgbClr val="3DD7E5"/>
            </a:solidFill>
            <a:prstDash val="solid"/>
          </a:ln>
        </p:spPr>
      </p:sp>
      <p:pic>
        <p:nvPicPr>
          <p:cNvPr id="16" name="Image 2" descr="/tmp/lmx_deck/assets/icon-money.png">    </p:cNvPr>
          <p:cNvPicPr>
            <a:picLocks noChangeAspect="1"/>
          </p:cNvPicPr>
          <p:nvPr/>
        </p:nvPicPr>
        <p:blipFill>
          <a:blip r:embed="rId3"/>
          <a:stretch>
            <a:fillRect/>
          </a:stretch>
        </p:blipFill>
        <p:spPr>
          <a:xfrm>
            <a:off x="821863" y="3994831"/>
            <a:ext cx="294803" cy="294803"/>
          </a:xfrm>
          <a:prstGeom prst="rect">
            <a:avLst/>
          </a:prstGeom>
        </p:spPr>
      </p:pic>
      <p:sp>
        <p:nvSpPr>
          <p:cNvPr id="17" name="Text 12"/>
          <p:cNvSpPr txBox="1"/>
          <p:nvPr/>
        </p:nvSpPr>
        <p:spPr>
          <a:xfrm>
            <a:off x="1417320" y="3858768"/>
            <a:ext cx="548640" cy="566928"/>
          </a:xfrm>
          <a:prstGeom prst="rect">
            <a:avLst/>
          </a:prstGeom>
          <a:noFill/>
          <a:ln/>
        </p:spPr>
        <p:txBody>
          <a:bodyPr wrap="square" lIns="0" tIns="0" rIns="0" bIns="0" rtlCol="0" anchor="ctr"/>
          <a:lstStyle/>
          <a:p>
            <a:pPr algn="l" indent="0" marL="0">
              <a:buNone/>
            </a:pPr>
            <a:r>
              <a:rPr lang="en-US" sz="1600" b="1" dirty="0">
                <a:solidFill>
                  <a:srgbClr val="5C6170"/>
                </a:solidFill>
                <a:latin typeface="Calibri" pitchFamily="34" charset="0"/>
                <a:ea typeface="Calibri" pitchFamily="34" charset="-122"/>
                <a:cs typeface="Calibri" pitchFamily="34" charset="-120"/>
              </a:rPr>
              <a:t>03</a:t>
            </a:r>
            <a:endParaRPr lang="en-US" sz="1600" dirty="0"/>
          </a:p>
        </p:txBody>
      </p:sp>
      <p:sp>
        <p:nvSpPr>
          <p:cNvPr id="18" name="Text 13"/>
          <p:cNvSpPr txBox="1"/>
          <p:nvPr/>
        </p:nvSpPr>
        <p:spPr>
          <a:xfrm>
            <a:off x="2011680" y="3822192"/>
            <a:ext cx="3657600" cy="365760"/>
          </a:xfrm>
          <a:prstGeom prst="rect">
            <a:avLst/>
          </a:prstGeom>
          <a:noFill/>
          <a:ln/>
        </p:spPr>
        <p:txBody>
          <a:bodyPr wrap="square" lIns="0" tIns="0" rIns="0" bIns="0" rtlCol="0" anchor="ctr"/>
          <a:lstStyle/>
          <a:p>
            <a:pPr indent="0" marL="0">
              <a:buNone/>
            </a:pPr>
            <a:r>
              <a:rPr lang="en-US" sz="1700" b="1" dirty="0">
                <a:solidFill>
                  <a:srgbClr val="F2F4F8"/>
                </a:solidFill>
                <a:latin typeface="Calibri" pitchFamily="34" charset="0"/>
                <a:ea typeface="Calibri" pitchFamily="34" charset="-122"/>
                <a:cs typeface="Calibri" pitchFamily="34" charset="-120"/>
              </a:rPr>
              <a:t>Programmable Money</a:t>
            </a:r>
            <a:endParaRPr lang="en-US" sz="1700" dirty="0"/>
          </a:p>
        </p:txBody>
      </p:sp>
      <p:sp>
        <p:nvSpPr>
          <p:cNvPr id="19" name="Text 14"/>
          <p:cNvSpPr txBox="1"/>
          <p:nvPr/>
        </p:nvSpPr>
        <p:spPr>
          <a:xfrm>
            <a:off x="2011680" y="4169664"/>
            <a:ext cx="5943600" cy="365760"/>
          </a:xfrm>
          <a:prstGeom prst="rect">
            <a:avLst/>
          </a:prstGeom>
          <a:noFill/>
          <a:ln/>
        </p:spPr>
        <p:txBody>
          <a:bodyPr wrap="square" lIns="0" tIns="0" rIns="0" bIns="0" rtlCol="0" anchor="t"/>
          <a:lstStyle/>
          <a:p>
            <a:pPr indent="0" marL="0">
              <a:buNone/>
            </a:pPr>
            <a:r>
              <a:rPr lang="en-US" sz="1250" dirty="0">
                <a:solidFill>
                  <a:srgbClr val="9AA0AE"/>
                </a:solidFill>
                <a:latin typeface="Calibri" pitchFamily="34" charset="0"/>
                <a:ea typeface="Calibri" pitchFamily="34" charset="-122"/>
                <a:cs typeface="Calibri" pitchFamily="34" charset="-120"/>
              </a:rPr>
              <a:t>Value that moves at software speed</a:t>
            </a:r>
            <a:endParaRPr lang="en-US" sz="1250" dirty="0"/>
          </a:p>
        </p:txBody>
      </p:sp>
      <p:sp>
        <p:nvSpPr>
          <p:cNvPr id="20" name="Shape 15"/>
          <p:cNvSpPr/>
          <p:nvPr/>
        </p:nvSpPr>
        <p:spPr>
          <a:xfrm>
            <a:off x="685800" y="4645152"/>
            <a:ext cx="566928" cy="566928"/>
          </a:xfrm>
          <a:prstGeom prst="ellipse">
            <a:avLst/>
          </a:prstGeom>
          <a:solidFill>
            <a:srgbClr val="1E2029"/>
          </a:solidFill>
          <a:ln w="19050">
            <a:solidFill>
              <a:srgbClr val="3DD7E5"/>
            </a:solidFill>
            <a:prstDash val="solid"/>
          </a:ln>
        </p:spPr>
      </p:sp>
      <p:pic>
        <p:nvPicPr>
          <p:cNvPr id="21" name="Image 3" descr="/tmp/lmx_deck/assets/icon-ownership.png">    </p:cNvPr>
          <p:cNvPicPr>
            <a:picLocks noChangeAspect="1"/>
          </p:cNvPicPr>
          <p:nvPr/>
        </p:nvPicPr>
        <p:blipFill>
          <a:blip r:embed="rId4"/>
          <a:stretch>
            <a:fillRect/>
          </a:stretch>
        </p:blipFill>
        <p:spPr>
          <a:xfrm>
            <a:off x="821863" y="4781215"/>
            <a:ext cx="294803" cy="294803"/>
          </a:xfrm>
          <a:prstGeom prst="rect">
            <a:avLst/>
          </a:prstGeom>
        </p:spPr>
      </p:pic>
      <p:sp>
        <p:nvSpPr>
          <p:cNvPr id="22" name="Text 16"/>
          <p:cNvSpPr txBox="1"/>
          <p:nvPr/>
        </p:nvSpPr>
        <p:spPr>
          <a:xfrm>
            <a:off x="1417320" y="4645152"/>
            <a:ext cx="548640" cy="566928"/>
          </a:xfrm>
          <a:prstGeom prst="rect">
            <a:avLst/>
          </a:prstGeom>
          <a:noFill/>
          <a:ln/>
        </p:spPr>
        <p:txBody>
          <a:bodyPr wrap="square" lIns="0" tIns="0" rIns="0" bIns="0" rtlCol="0" anchor="ctr"/>
          <a:lstStyle/>
          <a:p>
            <a:pPr algn="l" indent="0" marL="0">
              <a:buNone/>
            </a:pPr>
            <a:r>
              <a:rPr lang="en-US" sz="1600" b="1" dirty="0">
                <a:solidFill>
                  <a:srgbClr val="5C6170"/>
                </a:solidFill>
                <a:latin typeface="Calibri" pitchFamily="34" charset="0"/>
                <a:ea typeface="Calibri" pitchFamily="34" charset="-122"/>
                <a:cs typeface="Calibri" pitchFamily="34" charset="-120"/>
              </a:rPr>
              <a:t>04</a:t>
            </a:r>
            <a:endParaRPr lang="en-US" sz="1600" dirty="0"/>
          </a:p>
        </p:txBody>
      </p:sp>
      <p:sp>
        <p:nvSpPr>
          <p:cNvPr id="23" name="Text 17"/>
          <p:cNvSpPr txBox="1"/>
          <p:nvPr/>
        </p:nvSpPr>
        <p:spPr>
          <a:xfrm>
            <a:off x="2011680" y="4608576"/>
            <a:ext cx="3657600" cy="365760"/>
          </a:xfrm>
          <a:prstGeom prst="rect">
            <a:avLst/>
          </a:prstGeom>
          <a:noFill/>
          <a:ln/>
        </p:spPr>
        <p:txBody>
          <a:bodyPr wrap="square" lIns="0" tIns="0" rIns="0" bIns="0" rtlCol="0" anchor="ctr"/>
          <a:lstStyle/>
          <a:p>
            <a:pPr indent="0" marL="0">
              <a:buNone/>
            </a:pPr>
            <a:r>
              <a:rPr lang="en-US" sz="1700" b="1" dirty="0">
                <a:solidFill>
                  <a:srgbClr val="F2F4F8"/>
                </a:solidFill>
                <a:latin typeface="Calibri" pitchFamily="34" charset="0"/>
                <a:ea typeface="Calibri" pitchFamily="34" charset="-122"/>
                <a:cs typeface="Calibri" pitchFamily="34" charset="-120"/>
              </a:rPr>
              <a:t>Self-Custody</a:t>
            </a:r>
            <a:endParaRPr lang="en-US" sz="1700" dirty="0"/>
          </a:p>
        </p:txBody>
      </p:sp>
      <p:sp>
        <p:nvSpPr>
          <p:cNvPr id="24" name="Text 18"/>
          <p:cNvSpPr txBox="1"/>
          <p:nvPr/>
        </p:nvSpPr>
        <p:spPr>
          <a:xfrm>
            <a:off x="2011680" y="4956048"/>
            <a:ext cx="5943600" cy="365760"/>
          </a:xfrm>
          <a:prstGeom prst="rect">
            <a:avLst/>
          </a:prstGeom>
          <a:noFill/>
          <a:ln/>
        </p:spPr>
        <p:txBody>
          <a:bodyPr wrap="square" lIns="0" tIns="0" rIns="0" bIns="0" rtlCol="0" anchor="t"/>
          <a:lstStyle/>
          <a:p>
            <a:pPr indent="0" marL="0">
              <a:buNone/>
            </a:pPr>
            <a:r>
              <a:rPr lang="en-US" sz="1250" dirty="0">
                <a:solidFill>
                  <a:srgbClr val="9AA0AE"/>
                </a:solidFill>
                <a:latin typeface="Calibri" pitchFamily="34" charset="0"/>
                <a:ea typeface="Calibri" pitchFamily="34" charset="-122"/>
                <a:cs typeface="Calibri" pitchFamily="34" charset="-120"/>
              </a:rPr>
              <a:t>You (or your agent) hold what's yours</a:t>
            </a:r>
            <a:endParaRPr lang="en-US" sz="1250" dirty="0"/>
          </a:p>
        </p:txBody>
      </p:sp>
      <p:sp>
        <p:nvSpPr>
          <p:cNvPr id="25" name="Shape 19"/>
          <p:cNvSpPr/>
          <p:nvPr/>
        </p:nvSpPr>
        <p:spPr>
          <a:xfrm>
            <a:off x="685800" y="5431536"/>
            <a:ext cx="566928" cy="566928"/>
          </a:xfrm>
          <a:prstGeom prst="ellipse">
            <a:avLst/>
          </a:prstGeom>
          <a:solidFill>
            <a:srgbClr val="1E2029"/>
          </a:solidFill>
          <a:ln w="19050">
            <a:solidFill>
              <a:srgbClr val="3DD7E5"/>
            </a:solidFill>
            <a:prstDash val="solid"/>
          </a:ln>
        </p:spPr>
      </p:sp>
      <p:pic>
        <p:nvPicPr>
          <p:cNvPr id="26" name="Image 4" descr="/tmp/lmx_deck/assets/icon-composability.png">    </p:cNvPr>
          <p:cNvPicPr>
            <a:picLocks noChangeAspect="1"/>
          </p:cNvPicPr>
          <p:nvPr/>
        </p:nvPicPr>
        <p:blipFill>
          <a:blip r:embed="rId5"/>
          <a:stretch>
            <a:fillRect/>
          </a:stretch>
        </p:blipFill>
        <p:spPr>
          <a:xfrm>
            <a:off x="821863" y="5567599"/>
            <a:ext cx="294803" cy="294803"/>
          </a:xfrm>
          <a:prstGeom prst="rect">
            <a:avLst/>
          </a:prstGeom>
        </p:spPr>
      </p:pic>
      <p:sp>
        <p:nvSpPr>
          <p:cNvPr id="27" name="Text 20"/>
          <p:cNvSpPr txBox="1"/>
          <p:nvPr/>
        </p:nvSpPr>
        <p:spPr>
          <a:xfrm>
            <a:off x="1417320" y="5431536"/>
            <a:ext cx="548640" cy="566928"/>
          </a:xfrm>
          <a:prstGeom prst="rect">
            <a:avLst/>
          </a:prstGeom>
          <a:noFill/>
          <a:ln/>
        </p:spPr>
        <p:txBody>
          <a:bodyPr wrap="square" lIns="0" tIns="0" rIns="0" bIns="0" rtlCol="0" anchor="ctr"/>
          <a:lstStyle/>
          <a:p>
            <a:pPr algn="l" indent="0" marL="0">
              <a:buNone/>
            </a:pPr>
            <a:r>
              <a:rPr lang="en-US" sz="1600" b="1" dirty="0">
                <a:solidFill>
                  <a:srgbClr val="5C6170"/>
                </a:solidFill>
                <a:latin typeface="Calibri" pitchFamily="34" charset="0"/>
                <a:ea typeface="Calibri" pitchFamily="34" charset="-122"/>
                <a:cs typeface="Calibri" pitchFamily="34" charset="-120"/>
              </a:rPr>
              <a:t>05</a:t>
            </a:r>
            <a:endParaRPr lang="en-US" sz="1600" dirty="0"/>
          </a:p>
        </p:txBody>
      </p:sp>
      <p:sp>
        <p:nvSpPr>
          <p:cNvPr id="28" name="Text 21"/>
          <p:cNvSpPr txBox="1"/>
          <p:nvPr/>
        </p:nvSpPr>
        <p:spPr>
          <a:xfrm>
            <a:off x="2011680" y="5394960"/>
            <a:ext cx="3657600" cy="365760"/>
          </a:xfrm>
          <a:prstGeom prst="rect">
            <a:avLst/>
          </a:prstGeom>
          <a:noFill/>
          <a:ln/>
        </p:spPr>
        <p:txBody>
          <a:bodyPr wrap="square" lIns="0" tIns="0" rIns="0" bIns="0" rtlCol="0" anchor="ctr"/>
          <a:lstStyle/>
          <a:p>
            <a:pPr indent="0" marL="0">
              <a:buNone/>
            </a:pPr>
            <a:r>
              <a:rPr lang="en-US" sz="1700" b="1" dirty="0">
                <a:solidFill>
                  <a:srgbClr val="F2F4F8"/>
                </a:solidFill>
                <a:latin typeface="Calibri" pitchFamily="34" charset="0"/>
                <a:ea typeface="Calibri" pitchFamily="34" charset="-122"/>
                <a:cs typeface="Calibri" pitchFamily="34" charset="-120"/>
              </a:rPr>
              <a:t>Open Composability</a:t>
            </a:r>
            <a:endParaRPr lang="en-US" sz="1700" dirty="0"/>
          </a:p>
        </p:txBody>
      </p:sp>
      <p:sp>
        <p:nvSpPr>
          <p:cNvPr id="29" name="Text 22"/>
          <p:cNvSpPr txBox="1"/>
          <p:nvPr/>
        </p:nvSpPr>
        <p:spPr>
          <a:xfrm>
            <a:off x="2011680" y="5742432"/>
            <a:ext cx="5943600" cy="365760"/>
          </a:xfrm>
          <a:prstGeom prst="rect">
            <a:avLst/>
          </a:prstGeom>
          <a:noFill/>
          <a:ln/>
        </p:spPr>
        <p:txBody>
          <a:bodyPr wrap="square" lIns="0" tIns="0" rIns="0" bIns="0" rtlCol="0" anchor="t"/>
          <a:lstStyle/>
          <a:p>
            <a:pPr indent="0" marL="0">
              <a:buNone/>
            </a:pPr>
            <a:r>
              <a:rPr lang="en-US" sz="1250" dirty="0">
                <a:solidFill>
                  <a:srgbClr val="9AA0AE"/>
                </a:solidFill>
                <a:latin typeface="Calibri" pitchFamily="34" charset="0"/>
                <a:ea typeface="Calibri" pitchFamily="34" charset="-122"/>
                <a:cs typeface="Calibri" pitchFamily="34" charset="-120"/>
              </a:rPr>
              <a:t>Protocols as building blocks, not walled gardens</a:t>
            </a:r>
            <a:endParaRPr lang="en-US" sz="1250" dirty="0"/>
          </a:p>
        </p:txBody>
      </p:sp>
      <p:sp>
        <p:nvSpPr>
          <p:cNvPr id="30" name="Shape 23"/>
          <p:cNvSpPr/>
          <p:nvPr/>
        </p:nvSpPr>
        <p:spPr>
          <a:xfrm>
            <a:off x="8366760" y="2286000"/>
            <a:ext cx="3200400" cy="3913632"/>
          </a:xfrm>
          <a:prstGeom prst="roundRect">
            <a:avLst>
              <a:gd name="adj" fmla="val 2571"/>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31" name="Text 24"/>
          <p:cNvSpPr txBox="1"/>
          <p:nvPr/>
        </p:nvSpPr>
        <p:spPr>
          <a:xfrm>
            <a:off x="8641080" y="2487168"/>
            <a:ext cx="2743200" cy="274320"/>
          </a:xfrm>
          <a:prstGeom prst="rect">
            <a:avLst/>
          </a:prstGeom>
          <a:noFill/>
          <a:ln/>
        </p:spPr>
        <p:txBody>
          <a:bodyPr wrap="square" lIns="0" tIns="0" rIns="0" bIns="0" rtlCol="0" anchor="ctr"/>
          <a:lstStyle/>
          <a:p>
            <a:pPr indent="0" marL="0">
              <a:buNone/>
            </a:pPr>
            <a:r>
              <a:rPr lang="en-US" sz="1100" b="1" spc="150" kern="0" dirty="0">
                <a:solidFill>
                  <a:srgbClr val="3DD7E5"/>
                </a:solidFill>
                <a:latin typeface="Calibri" pitchFamily="34" charset="0"/>
                <a:ea typeface="Calibri" pitchFamily="34" charset="-122"/>
                <a:cs typeface="Calibri" pitchFamily="34" charset="-120"/>
              </a:rPr>
              <a:t>LOCKED-IN MODEL</a:t>
            </a:r>
            <a:endParaRPr lang="en-US" sz="1100" dirty="0"/>
          </a:p>
        </p:txBody>
      </p:sp>
      <p:sp>
        <p:nvSpPr>
          <p:cNvPr id="32" name="Text 25"/>
          <p:cNvSpPr txBox="1"/>
          <p:nvPr/>
        </p:nvSpPr>
        <p:spPr>
          <a:xfrm>
            <a:off x="8641080" y="2834640"/>
            <a:ext cx="2743200" cy="1188720"/>
          </a:xfrm>
          <a:prstGeom prst="rect">
            <a:avLst/>
          </a:prstGeom>
          <a:noFill/>
          <a:ln/>
        </p:spPr>
        <p:txBody>
          <a:bodyPr wrap="square" lIns="0" tIns="0" rIns="0" bIns="0" rtlCol="0" anchor="ctr"/>
          <a:lstStyle/>
          <a:p>
            <a:pPr indent="0" marL="0">
              <a:lnSpc>
                <a:spcPts val="2200"/>
              </a:lnSpc>
              <a:buNone/>
            </a:pPr>
            <a:r>
              <a:rPr lang="en-US" sz="1800" b="1" dirty="0">
                <a:solidFill>
                  <a:srgbClr val="F2F4F8"/>
                </a:solidFill>
                <a:latin typeface="Calibri" pitchFamily="34" charset="0"/>
                <a:ea typeface="Calibri" pitchFamily="34" charset="-122"/>
                <a:cs typeface="Calibri" pitchFamily="34" charset="-120"/>
              </a:rPr>
              <a:t>Wallet + Agent +</a:t>
            </a:r>
            <a:endParaRPr lang="en-US" sz="1800" dirty="0"/>
          </a:p>
          <a:p>
            <a:pPr indent="0" marL="0">
              <a:lnSpc>
                <a:spcPts val="2200"/>
              </a:lnSpc>
              <a:buNone/>
            </a:pPr>
            <a:r>
              <a:rPr lang="en-US" sz="1800" b="1" dirty="0">
                <a:solidFill>
                  <a:srgbClr val="F2F4F8"/>
                </a:solidFill>
                <a:latin typeface="Calibri" pitchFamily="34" charset="0"/>
                <a:ea typeface="Calibri" pitchFamily="34" charset="-122"/>
                <a:cs typeface="Calibri" pitchFamily="34" charset="-120"/>
              </a:rPr>
              <a:t>Vault + Router,</a:t>
            </a:r>
            <a:endParaRPr lang="en-US" sz="1800" dirty="0"/>
          </a:p>
          <a:p>
            <a:pPr indent="0" marL="0">
              <a:lnSpc>
                <a:spcPts val="2200"/>
              </a:lnSpc>
              <a:buNone/>
            </a:pPr>
            <a:r>
              <a:rPr lang="en-US" sz="1800" b="1" dirty="0">
                <a:solidFill>
                  <a:srgbClr val="F2F4F8"/>
                </a:solidFill>
                <a:latin typeface="Calibri" pitchFamily="34" charset="0"/>
                <a:ea typeface="Calibri" pitchFamily="34" charset="-122"/>
                <a:cs typeface="Calibri" pitchFamily="34" charset="-120"/>
              </a:rPr>
              <a:t>settled by Grid</a:t>
            </a:r>
            <a:endParaRPr lang="en-US" sz="1800" dirty="0"/>
          </a:p>
        </p:txBody>
      </p:sp>
      <p:sp>
        <p:nvSpPr>
          <p:cNvPr id="33" name="Text 26"/>
          <p:cNvSpPr txBox="1"/>
          <p:nvPr/>
        </p:nvSpPr>
        <p:spPr>
          <a:xfrm>
            <a:off x="8641080" y="4160520"/>
            <a:ext cx="2743200" cy="1828800"/>
          </a:xfrm>
          <a:prstGeom prst="rect">
            <a:avLst/>
          </a:prstGeom>
          <a:noFill/>
          <a:ln/>
        </p:spPr>
        <p:txBody>
          <a:bodyPr wrap="square" lIns="0" tIns="0" rIns="0" bIns="0" rtlCol="0" anchor="ctr"/>
          <a:lstStyle/>
          <a:p>
            <a:pPr indent="0" marL="0">
              <a:lnSpc>
                <a:spcPts val="1500"/>
              </a:lnSpc>
              <a:buNone/>
            </a:pPr>
            <a:r>
              <a:rPr lang="en-US" sz="1150" dirty="0">
                <a:solidFill>
                  <a:srgbClr val="9AA0AE"/>
                </a:solidFill>
                <a:latin typeface="Calibri" pitchFamily="34" charset="0"/>
                <a:ea typeface="Calibri" pitchFamily="34" charset="-122"/>
                <a:cs typeface="Calibri" pitchFamily="34" charset="-120"/>
              </a:rPr>
              <a:t>The reference architecture every LMX agent is built from—we'll assemble it piece by piece as each principle lands.</a:t>
            </a:r>
            <a:endParaRPr lang="en-US" sz="1150" dirty="0"/>
          </a:p>
        </p:txBody>
      </p:sp>
      <p:sp>
        <p:nvSpPr>
          <p:cNvPr id="34" name="Text 27"/>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02</a:t>
            </a:r>
            <a:endParaRPr lang="en-US" sz="1100" dirty="0"/>
          </a:p>
        </p:txBody>
      </p:sp>
      <p:pic>
        <p:nvPicPr>
          <p:cNvPr id="35" name="Image 5" descr="/tmp/lmx_deck/assets/logo-icon.png">    </p:cNvPr>
          <p:cNvPicPr>
            <a:picLocks noChangeAspect="1"/>
          </p:cNvPicPr>
          <p:nvPr/>
        </p:nvPicPr>
        <p:blipFill>
          <a:blip r:embed="rId6">
            <a:alphaModFix amt="45000"/>
          </a:blip>
          <a:stretch>
            <a:fillRect/>
          </a:stretch>
        </p:blipFill>
        <p:spPr>
          <a:xfrm>
            <a:off x="11624767" y="6327648"/>
            <a:ext cx="292608" cy="2926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algn="l" indent="0" marL="0">
              <a:buNone/>
            </a:pPr>
            <a:r>
              <a:rPr lang="en-US" sz="1300" b="1" spc="200" kern="0" dirty="0">
                <a:solidFill>
                  <a:srgbClr val="3DD7E5"/>
                </a:solidFill>
                <a:latin typeface="Calibri" pitchFamily="34" charset="0"/>
                <a:ea typeface="Calibri" pitchFamily="34" charset="-122"/>
                <a:cs typeface="Calibri" pitchFamily="34" charset="-120"/>
              </a:rPr>
              <a:t>LEVEL-SET</a:t>
            </a:r>
            <a:endParaRPr lang="en-US" sz="1300" dirty="0"/>
          </a:p>
        </p:txBody>
      </p:sp>
      <p:sp>
        <p:nvSpPr>
          <p:cNvPr id="3" name="Text 1"/>
          <p:cNvSpPr txBox="1"/>
          <p:nvPr/>
        </p:nvSpPr>
        <p:spPr>
          <a:xfrm>
            <a:off x="640080" y="777240"/>
            <a:ext cx="9601200" cy="914400"/>
          </a:xfrm>
          <a:prstGeom prst="rect">
            <a:avLst/>
          </a:prstGeom>
          <a:noFill/>
          <a:ln/>
        </p:spPr>
        <p:txBody>
          <a:bodyPr wrap="square" lIns="0" tIns="0" rIns="0" bIns="0" rtlCol="0" anchor="ctr"/>
          <a:lstStyle/>
          <a:p>
            <a:pPr algn="l" indent="0" marL="0">
              <a:lnSpc>
                <a:spcPts val="3600"/>
              </a:lnSpc>
              <a:buNone/>
            </a:pPr>
            <a:r>
              <a:rPr lang="en-US" sz="3400" b="1" dirty="0">
                <a:solidFill>
                  <a:srgbClr val="F2F4F8"/>
                </a:solidFill>
                <a:latin typeface="Calibri" pitchFamily="34" charset="0"/>
                <a:ea typeface="Calibri" pitchFamily="34" charset="-122"/>
                <a:cs typeface="Calibri" pitchFamily="34" charset="-120"/>
              </a:rPr>
              <a:t>Web3 in one sentence</a:t>
            </a:r>
            <a:endParaRPr lang="en-US" sz="3400" dirty="0"/>
          </a:p>
        </p:txBody>
      </p:sp>
      <p:sp>
        <p:nvSpPr>
          <p:cNvPr id="4" name="Text 2"/>
          <p:cNvSpPr txBox="1"/>
          <p:nvPr/>
        </p:nvSpPr>
        <p:spPr>
          <a:xfrm>
            <a:off x="640080" y="1554480"/>
            <a:ext cx="10881360" cy="1005840"/>
          </a:xfrm>
          <a:prstGeom prst="rect">
            <a:avLst/>
          </a:prstGeom>
          <a:noFill/>
          <a:ln/>
        </p:spPr>
        <p:txBody>
          <a:bodyPr wrap="square" lIns="0" tIns="0" rIns="0" bIns="0" rtlCol="0" anchor="ctr"/>
          <a:lstStyle/>
          <a:p>
            <a:pPr indent="0" marL="0">
              <a:lnSpc>
                <a:spcPts val="2600"/>
              </a:lnSpc>
              <a:buNone/>
            </a:pPr>
            <a:r>
              <a:rPr lang="en-US" sz="2000" b="1" dirty="0">
                <a:solidFill>
                  <a:srgbClr val="3DD7E5"/>
                </a:solidFill>
                <a:latin typeface="Calibri" pitchFamily="34" charset="0"/>
                <a:ea typeface="Calibri" pitchFamily="34" charset="-122"/>
                <a:cs typeface="Calibri" pitchFamily="34" charset="-120"/>
              </a:rPr>
              <a:t>An internet where ownership, trust, and value move through open, cryptographically verifiable networks—instead of through a company's private database.</a:t>
            </a:r>
            <a:endParaRPr lang="en-US" sz="2000" dirty="0"/>
          </a:p>
        </p:txBody>
      </p:sp>
      <p:sp>
        <p:nvSpPr>
          <p:cNvPr id="5" name="Shape 3"/>
          <p:cNvSpPr/>
          <p:nvPr/>
        </p:nvSpPr>
        <p:spPr>
          <a:xfrm>
            <a:off x="640080" y="2880360"/>
            <a:ext cx="5120640" cy="3200400"/>
          </a:xfrm>
          <a:prstGeom prst="roundRect">
            <a:avLst>
              <a:gd name="adj" fmla="val 2571"/>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6" name="Shape 4"/>
          <p:cNvSpPr/>
          <p:nvPr/>
        </p:nvSpPr>
        <p:spPr>
          <a:xfrm>
            <a:off x="914400" y="3154680"/>
            <a:ext cx="457200" cy="457200"/>
          </a:xfrm>
          <a:prstGeom prst="ellipse">
            <a:avLst/>
          </a:prstGeom>
          <a:solidFill>
            <a:srgbClr val="1E2029"/>
          </a:solidFill>
          <a:ln w="19050">
            <a:solidFill>
              <a:srgbClr val="FF3A5C"/>
            </a:solidFill>
            <a:prstDash val="solid"/>
          </a:ln>
        </p:spPr>
      </p:sp>
      <p:pic>
        <p:nvPicPr>
          <p:cNvPr id="7" name="Image 0" descr="/tmp/lmx_deck/assets/icon-x.png">    </p:cNvPr>
          <p:cNvPicPr>
            <a:picLocks noChangeAspect="1"/>
          </p:cNvPicPr>
          <p:nvPr/>
        </p:nvPicPr>
        <p:blipFill>
          <a:blip r:embed="rId1"/>
          <a:stretch>
            <a:fillRect/>
          </a:stretch>
        </p:blipFill>
        <p:spPr>
          <a:xfrm>
            <a:off x="1005840" y="3246120"/>
            <a:ext cx="274320" cy="274320"/>
          </a:xfrm>
          <a:prstGeom prst="rect">
            <a:avLst/>
          </a:prstGeom>
        </p:spPr>
      </p:pic>
      <p:sp>
        <p:nvSpPr>
          <p:cNvPr id="8" name="Text 5"/>
          <p:cNvSpPr txBox="1"/>
          <p:nvPr/>
        </p:nvSpPr>
        <p:spPr>
          <a:xfrm>
            <a:off x="1508760" y="3154680"/>
            <a:ext cx="2743200" cy="457200"/>
          </a:xfrm>
          <a:prstGeom prst="rect">
            <a:avLst/>
          </a:prstGeom>
          <a:noFill/>
          <a:ln/>
        </p:spPr>
        <p:txBody>
          <a:bodyPr wrap="square" lIns="0" tIns="0" rIns="0" bIns="0" rtlCol="0" anchor="ctr"/>
          <a:lstStyle/>
          <a:p>
            <a:pPr indent="0" marL="0">
              <a:buNone/>
            </a:pPr>
            <a:r>
              <a:rPr lang="en-US" sz="2000" b="1" dirty="0">
                <a:solidFill>
                  <a:srgbClr val="F2F4F8"/>
                </a:solidFill>
                <a:latin typeface="Calibri" pitchFamily="34" charset="0"/>
                <a:ea typeface="Calibri" pitchFamily="34" charset="-122"/>
                <a:cs typeface="Calibri" pitchFamily="34" charset="-120"/>
              </a:rPr>
              <a:t>Web2</a:t>
            </a:r>
            <a:endParaRPr lang="en-US" sz="2000" dirty="0"/>
          </a:p>
        </p:txBody>
      </p:sp>
      <p:sp>
        <p:nvSpPr>
          <p:cNvPr id="9" name="Text 6"/>
          <p:cNvSpPr txBox="1"/>
          <p:nvPr/>
        </p:nvSpPr>
        <p:spPr>
          <a:xfrm>
            <a:off x="960120" y="3840480"/>
            <a:ext cx="4480560" cy="502920"/>
          </a:xfrm>
          <a:prstGeom prst="rect">
            <a:avLst/>
          </a:prstGeom>
          <a:noFill/>
          <a:ln/>
        </p:spPr>
        <p:txBody>
          <a:bodyPr wrap="square" lIns="0" tIns="0" rIns="0" bIns="0" rtlCol="0" anchor="ctr"/>
          <a:lstStyle/>
          <a:p>
            <a:pPr marL="342900" indent="-342900">
              <a:lnSpc>
                <a:spcPts val="1600"/>
              </a:lnSpc>
              <a:buSzPct val="100000"/>
              <a:buChar char="•"/>
            </a:pPr>
            <a:r>
              <a:rPr lang="en-US" sz="1300" dirty="0">
                <a:solidFill>
                  <a:srgbClr val="9AA0AE"/>
                </a:solidFill>
                <a:latin typeface="Calibri" pitchFamily="34" charset="0"/>
                <a:ea typeface="Calibri" pitchFamily="34" charset="-122"/>
                <a:cs typeface="Calibri" pitchFamily="34" charset="-120"/>
              </a:rPr>
              <a:t>A platform holds your data</a:t>
            </a:r>
            <a:endParaRPr lang="en-US" sz="1300" dirty="0"/>
          </a:p>
        </p:txBody>
      </p:sp>
      <p:sp>
        <p:nvSpPr>
          <p:cNvPr id="10" name="Text 7"/>
          <p:cNvSpPr txBox="1"/>
          <p:nvPr/>
        </p:nvSpPr>
        <p:spPr>
          <a:xfrm>
            <a:off x="960120" y="4370832"/>
            <a:ext cx="4480560" cy="502920"/>
          </a:xfrm>
          <a:prstGeom prst="rect">
            <a:avLst/>
          </a:prstGeom>
          <a:noFill/>
          <a:ln/>
        </p:spPr>
        <p:txBody>
          <a:bodyPr wrap="square" lIns="0" tIns="0" rIns="0" bIns="0" rtlCol="0" anchor="ctr"/>
          <a:lstStyle/>
          <a:p>
            <a:pPr marL="342900" indent="-342900">
              <a:lnSpc>
                <a:spcPts val="1600"/>
              </a:lnSpc>
              <a:buSzPct val="100000"/>
              <a:buChar char="•"/>
            </a:pPr>
            <a:r>
              <a:rPr lang="en-US" sz="1300" dirty="0">
                <a:solidFill>
                  <a:srgbClr val="9AA0AE"/>
                </a:solidFill>
                <a:latin typeface="Calibri" pitchFamily="34" charset="0"/>
                <a:ea typeface="Calibri" pitchFamily="34" charset="-122"/>
                <a:cs typeface="Calibri" pitchFamily="34" charset="-120"/>
              </a:rPr>
              <a:t>You trust the company's word</a:t>
            </a:r>
            <a:endParaRPr lang="en-US" sz="1300" dirty="0"/>
          </a:p>
        </p:txBody>
      </p:sp>
      <p:sp>
        <p:nvSpPr>
          <p:cNvPr id="11" name="Text 8"/>
          <p:cNvSpPr txBox="1"/>
          <p:nvPr/>
        </p:nvSpPr>
        <p:spPr>
          <a:xfrm>
            <a:off x="960120" y="4901184"/>
            <a:ext cx="4480560" cy="502920"/>
          </a:xfrm>
          <a:prstGeom prst="rect">
            <a:avLst/>
          </a:prstGeom>
          <a:noFill/>
          <a:ln/>
        </p:spPr>
        <p:txBody>
          <a:bodyPr wrap="square" lIns="0" tIns="0" rIns="0" bIns="0" rtlCol="0" anchor="ctr"/>
          <a:lstStyle/>
          <a:p>
            <a:pPr marL="342900" indent="-342900">
              <a:lnSpc>
                <a:spcPts val="1600"/>
              </a:lnSpc>
              <a:buSzPct val="100000"/>
              <a:buChar char="•"/>
            </a:pPr>
            <a:r>
              <a:rPr lang="en-US" sz="1300" dirty="0">
                <a:solidFill>
                  <a:srgbClr val="9AA0AE"/>
                </a:solidFill>
                <a:latin typeface="Calibri" pitchFamily="34" charset="0"/>
                <a:ea typeface="Calibri" pitchFamily="34" charset="-122"/>
                <a:cs typeface="Calibri" pitchFamily="34" charset="-120"/>
              </a:rPr>
              <a:t>Money moves through the platform's rails</a:t>
            </a:r>
            <a:endParaRPr lang="en-US" sz="1300" dirty="0"/>
          </a:p>
        </p:txBody>
      </p:sp>
      <p:sp>
        <p:nvSpPr>
          <p:cNvPr id="12" name="Text 9"/>
          <p:cNvSpPr txBox="1"/>
          <p:nvPr/>
        </p:nvSpPr>
        <p:spPr>
          <a:xfrm>
            <a:off x="960120" y="5431536"/>
            <a:ext cx="4480560" cy="502920"/>
          </a:xfrm>
          <a:prstGeom prst="rect">
            <a:avLst/>
          </a:prstGeom>
          <a:noFill/>
          <a:ln/>
        </p:spPr>
        <p:txBody>
          <a:bodyPr wrap="square" lIns="0" tIns="0" rIns="0" bIns="0" rtlCol="0" anchor="ctr"/>
          <a:lstStyle/>
          <a:p>
            <a:pPr marL="342900" indent="-342900">
              <a:lnSpc>
                <a:spcPts val="1600"/>
              </a:lnSpc>
              <a:buSzPct val="100000"/>
              <a:buChar char="•"/>
            </a:pPr>
            <a:r>
              <a:rPr lang="en-US" sz="1300" dirty="0">
                <a:solidFill>
                  <a:srgbClr val="9AA0AE"/>
                </a:solidFill>
                <a:latin typeface="Calibri" pitchFamily="34" charset="0"/>
                <a:ea typeface="Calibri" pitchFamily="34" charset="-122"/>
                <a:cs typeface="Calibri" pitchFamily="34" charset="-120"/>
              </a:rPr>
              <a:t>Integrations need permission</a:t>
            </a:r>
            <a:endParaRPr lang="en-US" sz="1300" dirty="0"/>
          </a:p>
        </p:txBody>
      </p:sp>
      <p:sp>
        <p:nvSpPr>
          <p:cNvPr id="13" name="Shape 10"/>
          <p:cNvSpPr/>
          <p:nvPr/>
        </p:nvSpPr>
        <p:spPr>
          <a:xfrm>
            <a:off x="6080760" y="2880360"/>
            <a:ext cx="5120640" cy="3200400"/>
          </a:xfrm>
          <a:prstGeom prst="roundRect">
            <a:avLst>
              <a:gd name="adj" fmla="val 2571"/>
            </a:avLst>
          </a:prstGeom>
          <a:solidFill>
            <a:srgbClr val="1E2029"/>
          </a:solidFill>
          <a:ln w="12700">
            <a:solidFill>
              <a:srgbClr val="5B6BFF"/>
            </a:solidFill>
            <a:prstDash val="solid"/>
          </a:ln>
          <a:effectLst>
            <a:outerShdw sx="100000" sy="100000" kx="0" ky="0" algn="bl" rotWithShape="0" blurRad="127000" dist="38100" dir="5400000">
              <a:srgbClr val="000000">
                <a:alpha val="35000"/>
              </a:srgbClr>
            </a:outerShdw>
          </a:effectLst>
        </p:spPr>
      </p:sp>
      <p:sp>
        <p:nvSpPr>
          <p:cNvPr id="14" name="Shape 11"/>
          <p:cNvSpPr/>
          <p:nvPr/>
        </p:nvSpPr>
        <p:spPr>
          <a:xfrm>
            <a:off x="6355080" y="3154680"/>
            <a:ext cx="457200" cy="457200"/>
          </a:xfrm>
          <a:prstGeom prst="ellipse">
            <a:avLst/>
          </a:prstGeom>
          <a:solidFill>
            <a:srgbClr val="1E2029"/>
          </a:solidFill>
          <a:ln w="19050">
            <a:solidFill>
              <a:srgbClr val="2BE08C"/>
            </a:solidFill>
            <a:prstDash val="solid"/>
          </a:ln>
        </p:spPr>
      </p:sp>
      <p:pic>
        <p:nvPicPr>
          <p:cNvPr id="15" name="Image 1" descr="/tmp/lmx_deck/assets/icon-check.png">    </p:cNvPr>
          <p:cNvPicPr>
            <a:picLocks noChangeAspect="1"/>
          </p:cNvPicPr>
          <p:nvPr/>
        </p:nvPicPr>
        <p:blipFill>
          <a:blip r:embed="rId2"/>
          <a:stretch>
            <a:fillRect/>
          </a:stretch>
        </p:blipFill>
        <p:spPr>
          <a:xfrm>
            <a:off x="6446520" y="3246120"/>
            <a:ext cx="274320" cy="274320"/>
          </a:xfrm>
          <a:prstGeom prst="rect">
            <a:avLst/>
          </a:prstGeom>
        </p:spPr>
      </p:pic>
      <p:sp>
        <p:nvSpPr>
          <p:cNvPr id="16" name="Text 12"/>
          <p:cNvSpPr txBox="1"/>
          <p:nvPr/>
        </p:nvSpPr>
        <p:spPr>
          <a:xfrm>
            <a:off x="6949440" y="3154680"/>
            <a:ext cx="2743200" cy="457200"/>
          </a:xfrm>
          <a:prstGeom prst="rect">
            <a:avLst/>
          </a:prstGeom>
          <a:noFill/>
          <a:ln/>
        </p:spPr>
        <p:txBody>
          <a:bodyPr wrap="square" lIns="0" tIns="0" rIns="0" bIns="0" rtlCol="0" anchor="ctr"/>
          <a:lstStyle/>
          <a:p>
            <a:pPr indent="0" marL="0">
              <a:buNone/>
            </a:pPr>
            <a:r>
              <a:rPr lang="en-US" sz="2000" b="1" dirty="0">
                <a:solidFill>
                  <a:srgbClr val="F2F4F8"/>
                </a:solidFill>
                <a:latin typeface="Calibri" pitchFamily="34" charset="0"/>
                <a:ea typeface="Calibri" pitchFamily="34" charset="-122"/>
                <a:cs typeface="Calibri" pitchFamily="34" charset="-120"/>
              </a:rPr>
              <a:t>Web3</a:t>
            </a:r>
            <a:endParaRPr lang="en-US" sz="2000" dirty="0"/>
          </a:p>
        </p:txBody>
      </p:sp>
      <p:sp>
        <p:nvSpPr>
          <p:cNvPr id="17" name="Text 13"/>
          <p:cNvSpPr txBox="1"/>
          <p:nvPr/>
        </p:nvSpPr>
        <p:spPr>
          <a:xfrm>
            <a:off x="6400800" y="3840480"/>
            <a:ext cx="4480560" cy="502920"/>
          </a:xfrm>
          <a:prstGeom prst="rect">
            <a:avLst/>
          </a:prstGeom>
          <a:noFill/>
          <a:ln/>
        </p:spPr>
        <p:txBody>
          <a:bodyPr wrap="square" lIns="0" tIns="0" rIns="0" bIns="0" rtlCol="0" anchor="ctr"/>
          <a:lstStyle/>
          <a:p>
            <a:pPr marL="342900" indent="-342900">
              <a:lnSpc>
                <a:spcPts val="1600"/>
              </a:lnSpc>
              <a:buSzPct val="100000"/>
              <a:buChar char="•"/>
            </a:pPr>
            <a:r>
              <a:rPr lang="en-US" sz="1300" dirty="0">
                <a:solidFill>
                  <a:srgbClr val="9AA0AE"/>
                </a:solidFill>
                <a:latin typeface="Calibri" pitchFamily="34" charset="0"/>
                <a:ea typeface="Calibri" pitchFamily="34" charset="-122"/>
                <a:cs typeface="Calibri" pitchFamily="34" charset="-120"/>
              </a:rPr>
              <a:t>You (or your agent) hold your own data</a:t>
            </a:r>
            <a:endParaRPr lang="en-US" sz="1300" dirty="0"/>
          </a:p>
        </p:txBody>
      </p:sp>
      <p:sp>
        <p:nvSpPr>
          <p:cNvPr id="18" name="Text 14"/>
          <p:cNvSpPr txBox="1"/>
          <p:nvPr/>
        </p:nvSpPr>
        <p:spPr>
          <a:xfrm>
            <a:off x="6400800" y="4370832"/>
            <a:ext cx="4480560" cy="502920"/>
          </a:xfrm>
          <a:prstGeom prst="rect">
            <a:avLst/>
          </a:prstGeom>
          <a:noFill/>
          <a:ln/>
        </p:spPr>
        <p:txBody>
          <a:bodyPr wrap="square" lIns="0" tIns="0" rIns="0" bIns="0" rtlCol="0" anchor="ctr"/>
          <a:lstStyle/>
          <a:p>
            <a:pPr marL="342900" indent="-342900">
              <a:lnSpc>
                <a:spcPts val="1600"/>
              </a:lnSpc>
              <a:buSzPct val="100000"/>
              <a:buChar char="•"/>
            </a:pPr>
            <a:r>
              <a:rPr lang="en-US" sz="1300" dirty="0">
                <a:solidFill>
                  <a:srgbClr val="9AA0AE"/>
                </a:solidFill>
                <a:latin typeface="Calibri" pitchFamily="34" charset="0"/>
                <a:ea typeface="Calibri" pitchFamily="34" charset="-122"/>
                <a:cs typeface="Calibri" pitchFamily="34" charset="-120"/>
              </a:rPr>
              <a:t>Math and cryptography prove the claim</a:t>
            </a:r>
            <a:endParaRPr lang="en-US" sz="1300" dirty="0"/>
          </a:p>
        </p:txBody>
      </p:sp>
      <p:sp>
        <p:nvSpPr>
          <p:cNvPr id="19" name="Text 15"/>
          <p:cNvSpPr txBox="1"/>
          <p:nvPr/>
        </p:nvSpPr>
        <p:spPr>
          <a:xfrm>
            <a:off x="6400800" y="4901184"/>
            <a:ext cx="4480560" cy="502920"/>
          </a:xfrm>
          <a:prstGeom prst="rect">
            <a:avLst/>
          </a:prstGeom>
          <a:noFill/>
          <a:ln/>
        </p:spPr>
        <p:txBody>
          <a:bodyPr wrap="square" lIns="0" tIns="0" rIns="0" bIns="0" rtlCol="0" anchor="ctr"/>
          <a:lstStyle/>
          <a:p>
            <a:pPr marL="342900" indent="-342900">
              <a:lnSpc>
                <a:spcPts val="1600"/>
              </a:lnSpc>
              <a:buSzPct val="100000"/>
              <a:buChar char="•"/>
            </a:pPr>
            <a:r>
              <a:rPr lang="en-US" sz="1300" dirty="0">
                <a:solidFill>
                  <a:srgbClr val="9AA0AE"/>
                </a:solidFill>
                <a:latin typeface="Calibri" pitchFamily="34" charset="0"/>
                <a:ea typeface="Calibri" pitchFamily="34" charset="-122"/>
                <a:cs typeface="Calibri" pitchFamily="34" charset="-120"/>
              </a:rPr>
              <a:t>Money moves peer-to-peer, programmably</a:t>
            </a:r>
            <a:endParaRPr lang="en-US" sz="1300" dirty="0"/>
          </a:p>
        </p:txBody>
      </p:sp>
      <p:sp>
        <p:nvSpPr>
          <p:cNvPr id="20" name="Text 16"/>
          <p:cNvSpPr txBox="1"/>
          <p:nvPr/>
        </p:nvSpPr>
        <p:spPr>
          <a:xfrm>
            <a:off x="6400800" y="5431536"/>
            <a:ext cx="4480560" cy="502920"/>
          </a:xfrm>
          <a:prstGeom prst="rect">
            <a:avLst/>
          </a:prstGeom>
          <a:noFill/>
          <a:ln/>
        </p:spPr>
        <p:txBody>
          <a:bodyPr wrap="square" lIns="0" tIns="0" rIns="0" bIns="0" rtlCol="0" anchor="ctr"/>
          <a:lstStyle/>
          <a:p>
            <a:pPr marL="342900" indent="-342900">
              <a:lnSpc>
                <a:spcPts val="1600"/>
              </a:lnSpc>
              <a:buSzPct val="100000"/>
              <a:buChar char="•"/>
            </a:pPr>
            <a:r>
              <a:rPr lang="en-US" sz="1300" dirty="0">
                <a:solidFill>
                  <a:srgbClr val="9AA0AE"/>
                </a:solidFill>
                <a:latin typeface="Calibri" pitchFamily="34" charset="0"/>
                <a:ea typeface="Calibri" pitchFamily="34" charset="-122"/>
                <a:cs typeface="Calibri" pitchFamily="34" charset="-120"/>
              </a:rPr>
              <a:t>Anyone can build on the open protocol</a:t>
            </a:r>
            <a:endParaRPr lang="en-US" sz="1300" dirty="0"/>
          </a:p>
        </p:txBody>
      </p:sp>
      <p:sp>
        <p:nvSpPr>
          <p:cNvPr id="21" name="Text 17"/>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03</a:t>
            </a:r>
            <a:endParaRPr lang="en-US" sz="1100" dirty="0"/>
          </a:p>
        </p:txBody>
      </p:sp>
      <p:pic>
        <p:nvPicPr>
          <p:cNvPr id="22" name="Image 2" descr="/tmp/lmx_deck/assets/logo-icon.png">    </p:cNvPr>
          <p:cNvPicPr>
            <a:picLocks noChangeAspect="1"/>
          </p:cNvPicPr>
          <p:nvPr/>
        </p:nvPicPr>
        <p:blipFill>
          <a:blip r:embed="rId3">
            <a:alphaModFix amt="45000"/>
          </a:blip>
          <a:stretch>
            <a:fillRect/>
          </a:stretch>
        </p:blipFill>
        <p:spPr>
          <a:xfrm>
            <a:off x="11624767" y="6327648"/>
            <a:ext cx="292608" cy="2926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algn="l" indent="0" marL="0">
              <a:buNone/>
            </a:pPr>
            <a:r>
              <a:rPr lang="en-US" sz="1300" b="1" spc="200" kern="0" dirty="0">
                <a:solidFill>
                  <a:srgbClr val="3DD7E5"/>
                </a:solidFill>
                <a:latin typeface="Calibri" pitchFamily="34" charset="0"/>
                <a:ea typeface="Calibri" pitchFamily="34" charset="-122"/>
                <a:cs typeface="Calibri" pitchFamily="34" charset="-120"/>
              </a:rPr>
              <a:t>PRINCIPLE 1 OF 5</a:t>
            </a:r>
            <a:endParaRPr lang="en-US" sz="1300" dirty="0"/>
          </a:p>
        </p:txBody>
      </p:sp>
      <p:sp>
        <p:nvSpPr>
          <p:cNvPr id="3" name="Text 1"/>
          <p:cNvSpPr txBox="1"/>
          <p:nvPr/>
        </p:nvSpPr>
        <p:spPr>
          <a:xfrm>
            <a:off x="640080" y="777240"/>
            <a:ext cx="7315200" cy="914400"/>
          </a:xfrm>
          <a:prstGeom prst="rect">
            <a:avLst/>
          </a:prstGeom>
          <a:noFill/>
          <a:ln/>
        </p:spPr>
        <p:txBody>
          <a:bodyPr wrap="square" lIns="0" tIns="0" rIns="0" bIns="0" rtlCol="0" anchor="ctr"/>
          <a:lstStyle/>
          <a:p>
            <a:pPr algn="l" indent="0" marL="0">
              <a:lnSpc>
                <a:spcPts val="3150"/>
              </a:lnSpc>
              <a:buNone/>
            </a:pPr>
            <a:r>
              <a:rPr lang="en-US" sz="3000" b="1" dirty="0">
                <a:solidFill>
                  <a:srgbClr val="F2F4F8"/>
                </a:solidFill>
                <a:latin typeface="Calibri" pitchFamily="34" charset="0"/>
                <a:ea typeface="Calibri" pitchFamily="34" charset="-122"/>
                <a:cs typeface="Calibri" pitchFamily="34" charset="-120"/>
              </a:rPr>
              <a:t>Decentralization</a:t>
            </a:r>
            <a:endParaRPr lang="en-US" sz="3000" dirty="0"/>
          </a:p>
        </p:txBody>
      </p:sp>
      <p:sp>
        <p:nvSpPr>
          <p:cNvPr id="4" name="Shape 2"/>
          <p:cNvSpPr/>
          <p:nvPr/>
        </p:nvSpPr>
        <p:spPr>
          <a:xfrm>
            <a:off x="10378440" y="502920"/>
            <a:ext cx="1051560" cy="1051560"/>
          </a:xfrm>
          <a:prstGeom prst="ellipse">
            <a:avLst/>
          </a:prstGeom>
          <a:solidFill>
            <a:srgbClr val="1E2029"/>
          </a:solidFill>
          <a:ln w="19050">
            <a:solidFill>
              <a:srgbClr val="3DD7E5"/>
            </a:solidFill>
            <a:prstDash val="solid"/>
          </a:ln>
        </p:spPr>
      </p:sp>
      <p:pic>
        <p:nvPicPr>
          <p:cNvPr id="5" name="Image 0" descr="/tmp/lmx_deck/assets/icon-decentralization.png">    </p:cNvPr>
          <p:cNvPicPr>
            <a:picLocks noChangeAspect="1"/>
          </p:cNvPicPr>
          <p:nvPr/>
        </p:nvPicPr>
        <p:blipFill>
          <a:blip r:embed="rId1"/>
          <a:stretch>
            <a:fillRect/>
          </a:stretch>
        </p:blipFill>
        <p:spPr>
          <a:xfrm>
            <a:off x="10615041" y="739521"/>
            <a:ext cx="578358" cy="578358"/>
          </a:xfrm>
          <a:prstGeom prst="rect">
            <a:avLst/>
          </a:prstGeom>
        </p:spPr>
      </p:pic>
      <p:sp>
        <p:nvSpPr>
          <p:cNvPr id="6" name="Text 3"/>
          <p:cNvSpPr txBox="1"/>
          <p:nvPr/>
        </p:nvSpPr>
        <p:spPr>
          <a:xfrm>
            <a:off x="640080" y="1554480"/>
            <a:ext cx="10515600" cy="777240"/>
          </a:xfrm>
          <a:prstGeom prst="rect">
            <a:avLst/>
          </a:prstGeom>
          <a:noFill/>
          <a:ln/>
        </p:spPr>
        <p:txBody>
          <a:bodyPr wrap="square" lIns="0" tIns="0" rIns="0" bIns="0" rtlCol="0" anchor="ctr"/>
          <a:lstStyle/>
          <a:p>
            <a:pPr indent="0" marL="0">
              <a:lnSpc>
                <a:spcPts val="1900"/>
              </a:lnSpc>
              <a:buNone/>
            </a:pPr>
            <a:r>
              <a:rPr lang="en-US" sz="1500" dirty="0">
                <a:solidFill>
                  <a:srgbClr val="9AA0AE"/>
                </a:solidFill>
                <a:latin typeface="Calibri" pitchFamily="34" charset="0"/>
                <a:ea typeface="Calibri" pitchFamily="34" charset="-122"/>
                <a:cs typeface="Calibri" pitchFamily="34" charset="-120"/>
              </a:rPr>
              <a:t>No single company, server, or provider is a load-bearing wall. The network keeps working even if any one participant disappears.</a:t>
            </a:r>
            <a:endParaRPr lang="en-US" sz="1500" dirty="0"/>
          </a:p>
        </p:txBody>
      </p:sp>
      <p:sp>
        <p:nvSpPr>
          <p:cNvPr id="7" name="Text 4"/>
          <p:cNvSpPr txBox="1"/>
          <p:nvPr/>
        </p:nvSpPr>
        <p:spPr>
          <a:xfrm>
            <a:off x="640080" y="2514600"/>
            <a:ext cx="5120640" cy="274320"/>
          </a:xfrm>
          <a:prstGeom prst="rect">
            <a:avLst/>
          </a:prstGeom>
          <a:noFill/>
          <a:ln/>
        </p:spPr>
        <p:txBody>
          <a:bodyPr wrap="square" lIns="0" tIns="0" rIns="0" bIns="0" rtlCol="0" anchor="ctr"/>
          <a:lstStyle/>
          <a:p>
            <a:pPr indent="0" marL="0">
              <a:buNone/>
            </a:pPr>
            <a:r>
              <a:rPr lang="en-US" sz="1100" b="1" spc="150" kern="0" dirty="0">
                <a:solidFill>
                  <a:srgbClr val="5C6170"/>
                </a:solidFill>
                <a:latin typeface="Calibri" pitchFamily="34" charset="0"/>
                <a:ea typeface="Calibri" pitchFamily="34" charset="-122"/>
                <a:cs typeface="Calibri" pitchFamily="34" charset="-120"/>
              </a:rPr>
              <a:t>WEB3 PRINCIPLE</a:t>
            </a:r>
            <a:endParaRPr lang="en-US" sz="1100" dirty="0"/>
          </a:p>
        </p:txBody>
      </p:sp>
      <p:sp>
        <p:nvSpPr>
          <p:cNvPr id="8" name="Text 5"/>
          <p:cNvSpPr txBox="1"/>
          <p:nvPr/>
        </p:nvSpPr>
        <p:spPr>
          <a:xfrm>
            <a:off x="6172200" y="2514600"/>
            <a:ext cx="5120640" cy="274320"/>
          </a:xfrm>
          <a:prstGeom prst="rect">
            <a:avLst/>
          </a:prstGeom>
          <a:noFill/>
          <a:ln/>
        </p:spPr>
        <p:txBody>
          <a:bodyPr wrap="square" lIns="0" tIns="0" rIns="0" bIns="0" rtlCol="0" anchor="ctr"/>
          <a:lstStyle/>
          <a:p>
            <a:pPr indent="0" marL="0">
              <a:buNone/>
            </a:pPr>
            <a:r>
              <a:rPr lang="en-US" sz="1100" b="1" spc="150" kern="0" dirty="0">
                <a:solidFill>
                  <a:srgbClr val="3DD7E5"/>
                </a:solidFill>
                <a:latin typeface="Calibri" pitchFamily="34" charset="0"/>
                <a:ea typeface="Calibri" pitchFamily="34" charset="-122"/>
                <a:cs typeface="Calibri" pitchFamily="34" charset="-120"/>
              </a:rPr>
              <a:t>LMX CLOUD, TODAY</a:t>
            </a:r>
            <a:endParaRPr lang="en-US" sz="1100" dirty="0"/>
          </a:p>
        </p:txBody>
      </p:sp>
      <p:sp>
        <p:nvSpPr>
          <p:cNvPr id="9" name="Shape 6"/>
          <p:cNvSpPr/>
          <p:nvPr/>
        </p:nvSpPr>
        <p:spPr>
          <a:xfrm>
            <a:off x="640080" y="2834640"/>
            <a:ext cx="5120640" cy="3383280"/>
          </a:xfrm>
          <a:prstGeom prst="roundRect">
            <a:avLst>
              <a:gd name="adj" fmla="val 2432"/>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10" name="Text 7"/>
          <p:cNvSpPr txBox="1"/>
          <p:nvPr/>
        </p:nvSpPr>
        <p:spPr>
          <a:xfrm>
            <a:off x="914400" y="3108960"/>
            <a:ext cx="4572000" cy="2926080"/>
          </a:xfrm>
          <a:prstGeom prst="rect">
            <a:avLst/>
          </a:prstGeom>
          <a:noFill/>
          <a:ln/>
        </p:spPr>
        <p:txBody>
          <a:bodyPr wrap="square" lIns="0" tIns="0" rIns="0" bIns="0" rtlCol="0" anchor="t"/>
          <a:lstStyle/>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Work spreads across many independent operators instead of one data center</a:t>
            </a:r>
            <a:endParaRPr lang="en-US" sz="1350" dirty="0"/>
          </a:p>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No single outage, policy change, or provider decision can take the network down</a:t>
            </a:r>
            <a:endParaRPr lang="en-US" sz="1350" dirty="0"/>
          </a:p>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Classic Web3 example: Bitcoin/Ethereum nodes run by thousands of independent parties, not one company</a:t>
            </a:r>
            <a:endParaRPr lang="en-US" sz="1350" dirty="0"/>
          </a:p>
        </p:txBody>
      </p:sp>
      <p:sp>
        <p:nvSpPr>
          <p:cNvPr id="11" name="Shape 8"/>
          <p:cNvSpPr/>
          <p:nvPr/>
        </p:nvSpPr>
        <p:spPr>
          <a:xfrm>
            <a:off x="6172200" y="2834640"/>
            <a:ext cx="5394960" cy="3383280"/>
          </a:xfrm>
          <a:prstGeom prst="roundRect">
            <a:avLst>
              <a:gd name="adj" fmla="val 2432"/>
            </a:avLst>
          </a:prstGeom>
          <a:solidFill>
            <a:srgbClr val="1E2029"/>
          </a:solidFill>
          <a:ln w="12700">
            <a:solidFill>
              <a:srgbClr val="5B6BFF"/>
            </a:solidFill>
            <a:prstDash val="solid"/>
          </a:ln>
          <a:effectLst>
            <a:outerShdw sx="100000" sy="100000" kx="0" ky="0" algn="bl" rotWithShape="0" blurRad="127000" dist="38100" dir="5400000">
              <a:srgbClr val="000000">
                <a:alpha val="35000"/>
              </a:srgbClr>
            </a:outerShdw>
          </a:effectLst>
        </p:spPr>
      </p:sp>
      <p:sp>
        <p:nvSpPr>
          <p:cNvPr id="12" name="Text 9"/>
          <p:cNvSpPr txBox="1"/>
          <p:nvPr/>
        </p:nvSpPr>
        <p:spPr>
          <a:xfrm>
            <a:off x="6446520" y="3063240"/>
            <a:ext cx="4846320" cy="502920"/>
          </a:xfrm>
          <a:prstGeom prst="rect">
            <a:avLst/>
          </a:prstGeom>
          <a:noFill/>
          <a:ln/>
        </p:spPr>
        <p:txBody>
          <a:bodyPr wrap="square" lIns="0" tIns="0" rIns="0" bIns="0" rtlCol="0" anchor="ctr"/>
          <a:lstStyle/>
          <a:p>
            <a:pPr indent="0" marL="0">
              <a:lnSpc>
                <a:spcPts val="1900"/>
              </a:lnSpc>
              <a:buNone/>
            </a:pPr>
            <a:r>
              <a:rPr lang="en-US" sz="1550" b="1" dirty="0">
                <a:solidFill>
                  <a:srgbClr val="F2F4F8"/>
                </a:solidFill>
                <a:latin typeface="Calibri" pitchFamily="34" charset="0"/>
                <a:ea typeface="Calibri" pitchFamily="34" charset="-122"/>
                <a:cs typeface="Calibri" pitchFamily="34" charset="-120"/>
              </a:rPr>
              <a:t>Grid routes every inference call across independent DePIN compute providers.</a:t>
            </a:r>
            <a:endParaRPr lang="en-US" sz="1550" dirty="0"/>
          </a:p>
        </p:txBody>
      </p:sp>
      <p:sp>
        <p:nvSpPr>
          <p:cNvPr id="13" name="Text 10"/>
          <p:cNvSpPr txBox="1"/>
          <p:nvPr/>
        </p:nvSpPr>
        <p:spPr>
          <a:xfrm>
            <a:off x="6446520" y="3657600"/>
            <a:ext cx="4846320" cy="2423160"/>
          </a:xfrm>
          <a:prstGeom prst="rect">
            <a:avLst/>
          </a:prstGeom>
          <a:noFill/>
          <a:ln/>
        </p:spPr>
        <p:txBody>
          <a:bodyPr wrap="square" lIns="0" tIns="0" rIns="0" bIns="0" rtlCol="0" anchor="t"/>
          <a:lstStyle/>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Requests fail over live across io.net, Akash, and Aethir—no single provider is the pipe</a:t>
            </a:r>
            <a:endParaRPr lang="en-US" sz="1300" dirty="0"/>
          </a:p>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Adding or dropping a provider is a routing change, not an outage</a:t>
            </a:r>
            <a:endParaRPr lang="en-US" sz="1300" dirty="0"/>
          </a:p>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Same logic scales to storage and other resources next</a:t>
            </a:r>
            <a:endParaRPr lang="en-US" sz="1300" dirty="0"/>
          </a:p>
        </p:txBody>
      </p:sp>
      <p:sp>
        <p:nvSpPr>
          <p:cNvPr id="14" name="Text 11"/>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04</a:t>
            </a:r>
            <a:endParaRPr lang="en-US" sz="1100" dirty="0"/>
          </a:p>
        </p:txBody>
      </p:sp>
      <p:pic>
        <p:nvPicPr>
          <p:cNvPr id="15" name="Image 1" descr="/tmp/lmx_deck/assets/logo-icon.png">    </p:cNvPr>
          <p:cNvPicPr>
            <a:picLocks noChangeAspect="1"/>
          </p:cNvPicPr>
          <p:nvPr/>
        </p:nvPicPr>
        <p:blipFill>
          <a:blip r:embed="rId2">
            <a:alphaModFix amt="45000"/>
          </a:blip>
          <a:stretch>
            <a:fillRect/>
          </a:stretch>
        </p:blipFill>
        <p:spPr>
          <a:xfrm>
            <a:off x="11624767" y="6327648"/>
            <a:ext cx="292608" cy="2926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algn="l" indent="0" marL="0">
              <a:buNone/>
            </a:pPr>
            <a:r>
              <a:rPr lang="en-US" sz="1300" b="1" spc="200" kern="0" dirty="0">
                <a:solidFill>
                  <a:srgbClr val="3DD7E5"/>
                </a:solidFill>
                <a:latin typeface="Calibri" pitchFamily="34" charset="0"/>
                <a:ea typeface="Calibri" pitchFamily="34" charset="-122"/>
                <a:cs typeface="Calibri" pitchFamily="34" charset="-120"/>
              </a:rPr>
              <a:t>PRINCIPLE 2 OF 5</a:t>
            </a:r>
            <a:endParaRPr lang="en-US" sz="1300" dirty="0"/>
          </a:p>
        </p:txBody>
      </p:sp>
      <p:sp>
        <p:nvSpPr>
          <p:cNvPr id="3" name="Text 1"/>
          <p:cNvSpPr txBox="1"/>
          <p:nvPr/>
        </p:nvSpPr>
        <p:spPr>
          <a:xfrm>
            <a:off x="640080" y="777240"/>
            <a:ext cx="7315200" cy="914400"/>
          </a:xfrm>
          <a:prstGeom prst="rect">
            <a:avLst/>
          </a:prstGeom>
          <a:noFill/>
          <a:ln/>
        </p:spPr>
        <p:txBody>
          <a:bodyPr wrap="square" lIns="0" tIns="0" rIns="0" bIns="0" rtlCol="0" anchor="ctr"/>
          <a:lstStyle/>
          <a:p>
            <a:pPr algn="l" indent="0" marL="0">
              <a:lnSpc>
                <a:spcPts val="3150"/>
              </a:lnSpc>
              <a:buNone/>
            </a:pPr>
            <a:r>
              <a:rPr lang="en-US" sz="3000" b="1" dirty="0">
                <a:solidFill>
                  <a:srgbClr val="F2F4F8"/>
                </a:solidFill>
                <a:latin typeface="Calibri" pitchFamily="34" charset="0"/>
                <a:ea typeface="Calibri" pitchFamily="34" charset="-122"/>
                <a:cs typeface="Calibri" pitchFamily="34" charset="-120"/>
              </a:rPr>
              <a:t>Verifiable Trust</a:t>
            </a:r>
            <a:endParaRPr lang="en-US" sz="3000" dirty="0"/>
          </a:p>
        </p:txBody>
      </p:sp>
      <p:sp>
        <p:nvSpPr>
          <p:cNvPr id="4" name="Shape 2"/>
          <p:cNvSpPr/>
          <p:nvPr/>
        </p:nvSpPr>
        <p:spPr>
          <a:xfrm>
            <a:off x="10378440" y="502920"/>
            <a:ext cx="1051560" cy="1051560"/>
          </a:xfrm>
          <a:prstGeom prst="ellipse">
            <a:avLst/>
          </a:prstGeom>
          <a:solidFill>
            <a:srgbClr val="1E2029"/>
          </a:solidFill>
          <a:ln w="19050">
            <a:solidFill>
              <a:srgbClr val="3DD7E5"/>
            </a:solidFill>
            <a:prstDash val="solid"/>
          </a:ln>
        </p:spPr>
      </p:sp>
      <p:pic>
        <p:nvPicPr>
          <p:cNvPr id="5" name="Image 0" descr="/tmp/lmx_deck/assets/icon-trust.png">    </p:cNvPr>
          <p:cNvPicPr>
            <a:picLocks noChangeAspect="1"/>
          </p:cNvPicPr>
          <p:nvPr/>
        </p:nvPicPr>
        <p:blipFill>
          <a:blip r:embed="rId1"/>
          <a:stretch>
            <a:fillRect/>
          </a:stretch>
        </p:blipFill>
        <p:spPr>
          <a:xfrm>
            <a:off x="10615041" y="739521"/>
            <a:ext cx="578358" cy="578358"/>
          </a:xfrm>
          <a:prstGeom prst="rect">
            <a:avLst/>
          </a:prstGeom>
        </p:spPr>
      </p:pic>
      <p:sp>
        <p:nvSpPr>
          <p:cNvPr id="6" name="Text 3"/>
          <p:cNvSpPr txBox="1"/>
          <p:nvPr/>
        </p:nvSpPr>
        <p:spPr>
          <a:xfrm>
            <a:off x="640080" y="1554480"/>
            <a:ext cx="10515600" cy="777240"/>
          </a:xfrm>
          <a:prstGeom prst="rect">
            <a:avLst/>
          </a:prstGeom>
          <a:noFill/>
          <a:ln/>
        </p:spPr>
        <p:txBody>
          <a:bodyPr wrap="square" lIns="0" tIns="0" rIns="0" bIns="0" rtlCol="0" anchor="ctr"/>
          <a:lstStyle/>
          <a:p>
            <a:pPr indent="0" marL="0">
              <a:lnSpc>
                <a:spcPts val="1900"/>
              </a:lnSpc>
              <a:buNone/>
            </a:pPr>
            <a:r>
              <a:rPr lang="en-US" sz="1500" dirty="0">
                <a:solidFill>
                  <a:srgbClr val="9AA0AE"/>
                </a:solidFill>
                <a:latin typeface="Calibri" pitchFamily="34" charset="0"/>
                <a:ea typeface="Calibri" pitchFamily="34" charset="-122"/>
                <a:cs typeface="Calibri" pitchFamily="34" charset="-120"/>
              </a:rPr>
              <a:t>"Don't trust, verify." Claims are backed by cryptographic proof that anyone can check, not by a brand's reputation.</a:t>
            </a:r>
            <a:endParaRPr lang="en-US" sz="1500" dirty="0"/>
          </a:p>
        </p:txBody>
      </p:sp>
      <p:sp>
        <p:nvSpPr>
          <p:cNvPr id="7" name="Text 4"/>
          <p:cNvSpPr txBox="1"/>
          <p:nvPr/>
        </p:nvSpPr>
        <p:spPr>
          <a:xfrm>
            <a:off x="640080" y="2514600"/>
            <a:ext cx="5120640" cy="274320"/>
          </a:xfrm>
          <a:prstGeom prst="rect">
            <a:avLst/>
          </a:prstGeom>
          <a:noFill/>
          <a:ln/>
        </p:spPr>
        <p:txBody>
          <a:bodyPr wrap="square" lIns="0" tIns="0" rIns="0" bIns="0" rtlCol="0" anchor="ctr"/>
          <a:lstStyle/>
          <a:p>
            <a:pPr indent="0" marL="0">
              <a:buNone/>
            </a:pPr>
            <a:r>
              <a:rPr lang="en-US" sz="1100" b="1" spc="150" kern="0" dirty="0">
                <a:solidFill>
                  <a:srgbClr val="5C6170"/>
                </a:solidFill>
                <a:latin typeface="Calibri" pitchFamily="34" charset="0"/>
                <a:ea typeface="Calibri" pitchFamily="34" charset="-122"/>
                <a:cs typeface="Calibri" pitchFamily="34" charset="-120"/>
              </a:rPr>
              <a:t>WEB3 PRINCIPLE</a:t>
            </a:r>
            <a:endParaRPr lang="en-US" sz="1100" dirty="0"/>
          </a:p>
        </p:txBody>
      </p:sp>
      <p:sp>
        <p:nvSpPr>
          <p:cNvPr id="8" name="Text 5"/>
          <p:cNvSpPr txBox="1"/>
          <p:nvPr/>
        </p:nvSpPr>
        <p:spPr>
          <a:xfrm>
            <a:off x="6172200" y="2514600"/>
            <a:ext cx="5120640" cy="274320"/>
          </a:xfrm>
          <a:prstGeom prst="rect">
            <a:avLst/>
          </a:prstGeom>
          <a:noFill/>
          <a:ln/>
        </p:spPr>
        <p:txBody>
          <a:bodyPr wrap="square" lIns="0" tIns="0" rIns="0" bIns="0" rtlCol="0" anchor="ctr"/>
          <a:lstStyle/>
          <a:p>
            <a:pPr indent="0" marL="0">
              <a:buNone/>
            </a:pPr>
            <a:r>
              <a:rPr lang="en-US" sz="1100" b="1" spc="150" kern="0" dirty="0">
                <a:solidFill>
                  <a:srgbClr val="3DD7E5"/>
                </a:solidFill>
                <a:latin typeface="Calibri" pitchFamily="34" charset="0"/>
                <a:ea typeface="Calibri" pitchFamily="34" charset="-122"/>
                <a:cs typeface="Calibri" pitchFamily="34" charset="-120"/>
              </a:rPr>
              <a:t>LMX CLOUD, TODAY</a:t>
            </a:r>
            <a:endParaRPr lang="en-US" sz="1100" dirty="0"/>
          </a:p>
        </p:txBody>
      </p:sp>
      <p:sp>
        <p:nvSpPr>
          <p:cNvPr id="9" name="Shape 6"/>
          <p:cNvSpPr/>
          <p:nvPr/>
        </p:nvSpPr>
        <p:spPr>
          <a:xfrm>
            <a:off x="640080" y="2834640"/>
            <a:ext cx="5120640" cy="3383280"/>
          </a:xfrm>
          <a:prstGeom prst="roundRect">
            <a:avLst>
              <a:gd name="adj" fmla="val 2432"/>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10" name="Text 7"/>
          <p:cNvSpPr txBox="1"/>
          <p:nvPr/>
        </p:nvSpPr>
        <p:spPr>
          <a:xfrm>
            <a:off x="914400" y="3108960"/>
            <a:ext cx="4572000" cy="2926080"/>
          </a:xfrm>
          <a:prstGeom prst="rect">
            <a:avLst/>
          </a:prstGeom>
          <a:noFill/>
          <a:ln/>
        </p:spPr>
        <p:txBody>
          <a:bodyPr wrap="square" lIns="0" tIns="0" rIns="0" bIns="0" rtlCol="0" anchor="t"/>
          <a:lstStyle/>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A receipt, signature, or on-chain record lets any party independently confirm what happened</a:t>
            </a:r>
            <a:endParaRPr lang="en-US" sz="1350" dirty="0"/>
          </a:p>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Removes the need to take a counterparty's word for it</a:t>
            </a:r>
            <a:endParaRPr lang="en-US" sz="1350" dirty="0"/>
          </a:p>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The proof is about *delivery*—that something happened as specified—not a guarantee of quality</a:t>
            </a:r>
            <a:endParaRPr lang="en-US" sz="1350" dirty="0"/>
          </a:p>
        </p:txBody>
      </p:sp>
      <p:sp>
        <p:nvSpPr>
          <p:cNvPr id="11" name="Shape 8"/>
          <p:cNvSpPr/>
          <p:nvPr/>
        </p:nvSpPr>
        <p:spPr>
          <a:xfrm>
            <a:off x="6172200" y="2834640"/>
            <a:ext cx="5394960" cy="3383280"/>
          </a:xfrm>
          <a:prstGeom prst="roundRect">
            <a:avLst>
              <a:gd name="adj" fmla="val 2432"/>
            </a:avLst>
          </a:prstGeom>
          <a:solidFill>
            <a:srgbClr val="1E2029"/>
          </a:solidFill>
          <a:ln w="12700">
            <a:solidFill>
              <a:srgbClr val="5B6BFF"/>
            </a:solidFill>
            <a:prstDash val="solid"/>
          </a:ln>
          <a:effectLst>
            <a:outerShdw sx="100000" sy="100000" kx="0" ky="0" algn="bl" rotWithShape="0" blurRad="127000" dist="38100" dir="5400000">
              <a:srgbClr val="000000">
                <a:alpha val="35000"/>
              </a:srgbClr>
            </a:outerShdw>
          </a:effectLst>
        </p:spPr>
      </p:sp>
      <p:sp>
        <p:nvSpPr>
          <p:cNvPr id="12" name="Text 9"/>
          <p:cNvSpPr txBox="1"/>
          <p:nvPr/>
        </p:nvSpPr>
        <p:spPr>
          <a:xfrm>
            <a:off x="6446520" y="3063240"/>
            <a:ext cx="4846320" cy="502920"/>
          </a:xfrm>
          <a:prstGeom prst="rect">
            <a:avLst/>
          </a:prstGeom>
          <a:noFill/>
          <a:ln/>
        </p:spPr>
        <p:txBody>
          <a:bodyPr wrap="square" lIns="0" tIns="0" rIns="0" bIns="0" rtlCol="0" anchor="ctr"/>
          <a:lstStyle/>
          <a:p>
            <a:pPr indent="0" marL="0">
              <a:lnSpc>
                <a:spcPts val="1900"/>
              </a:lnSpc>
              <a:buNone/>
            </a:pPr>
            <a:r>
              <a:rPr lang="en-US" sz="1550" b="1" dirty="0">
                <a:solidFill>
                  <a:srgbClr val="F2F4F8"/>
                </a:solidFill>
                <a:latin typeface="Calibri" pitchFamily="34" charset="0"/>
                <a:ea typeface="Calibri" pitchFamily="34" charset="-122"/>
                <a:cs typeface="Calibri" pitchFamily="34" charset="-120"/>
              </a:rPr>
              <a:t>Every call through Grid gets a Merkle-anchored delivery receipt.</a:t>
            </a:r>
            <a:endParaRPr lang="en-US" sz="1550" dirty="0"/>
          </a:p>
        </p:txBody>
      </p:sp>
      <p:sp>
        <p:nvSpPr>
          <p:cNvPr id="13" name="Text 10"/>
          <p:cNvSpPr txBox="1"/>
          <p:nvPr/>
        </p:nvSpPr>
        <p:spPr>
          <a:xfrm>
            <a:off x="6446520" y="3657600"/>
            <a:ext cx="4846320" cy="2423160"/>
          </a:xfrm>
          <a:prstGeom prst="rect">
            <a:avLst/>
          </a:prstGeom>
          <a:noFill/>
          <a:ln/>
        </p:spPr>
        <p:txBody>
          <a:bodyPr wrap="square" lIns="0" tIns="0" rIns="0" bIns="0" rtlCol="0" anchor="t"/>
          <a:lstStyle/>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Cryptographic proof a call was fulfilled as specified—proof of delivery, not proof of correctness</a:t>
            </a:r>
            <a:endParaRPr lang="en-US" sz="1300" dirty="0"/>
          </a:p>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Same receipt mechanism will back paid cross-agent Vault reads</a:t>
            </a:r>
            <a:endParaRPr lang="en-US" sz="1300" dirty="0"/>
          </a:p>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The trust layer LMX is building on top of x402 payments</a:t>
            </a:r>
            <a:endParaRPr lang="en-US" sz="1300" dirty="0"/>
          </a:p>
        </p:txBody>
      </p:sp>
      <p:sp>
        <p:nvSpPr>
          <p:cNvPr id="14" name="Text 11"/>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05</a:t>
            </a:r>
            <a:endParaRPr lang="en-US" sz="1100" dirty="0"/>
          </a:p>
        </p:txBody>
      </p:sp>
      <p:pic>
        <p:nvPicPr>
          <p:cNvPr id="15" name="Image 1" descr="/tmp/lmx_deck/assets/logo-icon.png">    </p:cNvPr>
          <p:cNvPicPr>
            <a:picLocks noChangeAspect="1"/>
          </p:cNvPicPr>
          <p:nvPr/>
        </p:nvPicPr>
        <p:blipFill>
          <a:blip r:embed="rId2">
            <a:alphaModFix amt="45000"/>
          </a:blip>
          <a:stretch>
            <a:fillRect/>
          </a:stretch>
        </p:blipFill>
        <p:spPr>
          <a:xfrm>
            <a:off x="11624767" y="6327648"/>
            <a:ext cx="292608" cy="2926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algn="l" indent="0" marL="0">
              <a:buNone/>
            </a:pPr>
            <a:r>
              <a:rPr lang="en-US" sz="1300" b="1" spc="200" kern="0" dirty="0">
                <a:solidFill>
                  <a:srgbClr val="3DD7E5"/>
                </a:solidFill>
                <a:latin typeface="Calibri" pitchFamily="34" charset="0"/>
                <a:ea typeface="Calibri" pitchFamily="34" charset="-122"/>
                <a:cs typeface="Calibri" pitchFamily="34" charset="-120"/>
              </a:rPr>
              <a:t>PRINCIPLE 3 OF 5</a:t>
            </a:r>
            <a:endParaRPr lang="en-US" sz="1300" dirty="0"/>
          </a:p>
        </p:txBody>
      </p:sp>
      <p:sp>
        <p:nvSpPr>
          <p:cNvPr id="3" name="Text 1"/>
          <p:cNvSpPr txBox="1"/>
          <p:nvPr/>
        </p:nvSpPr>
        <p:spPr>
          <a:xfrm>
            <a:off x="640080" y="777240"/>
            <a:ext cx="7315200" cy="914400"/>
          </a:xfrm>
          <a:prstGeom prst="rect">
            <a:avLst/>
          </a:prstGeom>
          <a:noFill/>
          <a:ln/>
        </p:spPr>
        <p:txBody>
          <a:bodyPr wrap="square" lIns="0" tIns="0" rIns="0" bIns="0" rtlCol="0" anchor="ctr"/>
          <a:lstStyle/>
          <a:p>
            <a:pPr algn="l" indent="0" marL="0">
              <a:lnSpc>
                <a:spcPts val="3150"/>
              </a:lnSpc>
              <a:buNone/>
            </a:pPr>
            <a:r>
              <a:rPr lang="en-US" sz="3000" b="1" dirty="0">
                <a:solidFill>
                  <a:srgbClr val="F2F4F8"/>
                </a:solidFill>
                <a:latin typeface="Calibri" pitchFamily="34" charset="0"/>
                <a:ea typeface="Calibri" pitchFamily="34" charset="-122"/>
                <a:cs typeface="Calibri" pitchFamily="34" charset="-120"/>
              </a:rPr>
              <a:t>Programmable Money</a:t>
            </a:r>
            <a:endParaRPr lang="en-US" sz="3000" dirty="0"/>
          </a:p>
        </p:txBody>
      </p:sp>
      <p:sp>
        <p:nvSpPr>
          <p:cNvPr id="4" name="Shape 2"/>
          <p:cNvSpPr/>
          <p:nvPr/>
        </p:nvSpPr>
        <p:spPr>
          <a:xfrm>
            <a:off x="10378440" y="502920"/>
            <a:ext cx="1051560" cy="1051560"/>
          </a:xfrm>
          <a:prstGeom prst="ellipse">
            <a:avLst/>
          </a:prstGeom>
          <a:solidFill>
            <a:srgbClr val="1E2029"/>
          </a:solidFill>
          <a:ln w="19050">
            <a:solidFill>
              <a:srgbClr val="3DD7E5"/>
            </a:solidFill>
            <a:prstDash val="solid"/>
          </a:ln>
        </p:spPr>
      </p:sp>
      <p:pic>
        <p:nvPicPr>
          <p:cNvPr id="5" name="Image 0" descr="/tmp/lmx_deck/assets/icon-money.png">    </p:cNvPr>
          <p:cNvPicPr>
            <a:picLocks noChangeAspect="1"/>
          </p:cNvPicPr>
          <p:nvPr/>
        </p:nvPicPr>
        <p:blipFill>
          <a:blip r:embed="rId1"/>
          <a:stretch>
            <a:fillRect/>
          </a:stretch>
        </p:blipFill>
        <p:spPr>
          <a:xfrm>
            <a:off x="10615041" y="739521"/>
            <a:ext cx="578358" cy="578358"/>
          </a:xfrm>
          <a:prstGeom prst="rect">
            <a:avLst/>
          </a:prstGeom>
        </p:spPr>
      </p:pic>
      <p:sp>
        <p:nvSpPr>
          <p:cNvPr id="6" name="Text 3"/>
          <p:cNvSpPr txBox="1"/>
          <p:nvPr/>
        </p:nvSpPr>
        <p:spPr>
          <a:xfrm>
            <a:off x="640080" y="1554480"/>
            <a:ext cx="10515600" cy="777240"/>
          </a:xfrm>
          <a:prstGeom prst="rect">
            <a:avLst/>
          </a:prstGeom>
          <a:noFill/>
          <a:ln/>
        </p:spPr>
        <p:txBody>
          <a:bodyPr wrap="square" lIns="0" tIns="0" rIns="0" bIns="0" rtlCol="0" anchor="ctr"/>
          <a:lstStyle/>
          <a:p>
            <a:pPr indent="0" marL="0">
              <a:lnSpc>
                <a:spcPts val="1900"/>
              </a:lnSpc>
              <a:buNone/>
            </a:pPr>
            <a:r>
              <a:rPr lang="en-US" sz="1500" dirty="0">
                <a:solidFill>
                  <a:srgbClr val="9AA0AE"/>
                </a:solidFill>
                <a:latin typeface="Calibri" pitchFamily="34" charset="0"/>
                <a:ea typeface="Calibri" pitchFamily="34" charset="-122"/>
                <a:cs typeface="Calibri" pitchFamily="34" charset="-120"/>
              </a:rPr>
              <a:t>Value moves as fast as software—micropayments, instant settlement, and machines paying machines without a human clicking "approve."</a:t>
            </a:r>
            <a:endParaRPr lang="en-US" sz="1500" dirty="0"/>
          </a:p>
        </p:txBody>
      </p:sp>
      <p:sp>
        <p:nvSpPr>
          <p:cNvPr id="7" name="Text 4"/>
          <p:cNvSpPr txBox="1"/>
          <p:nvPr/>
        </p:nvSpPr>
        <p:spPr>
          <a:xfrm>
            <a:off x="640080" y="2514600"/>
            <a:ext cx="5120640" cy="274320"/>
          </a:xfrm>
          <a:prstGeom prst="rect">
            <a:avLst/>
          </a:prstGeom>
          <a:noFill/>
          <a:ln/>
        </p:spPr>
        <p:txBody>
          <a:bodyPr wrap="square" lIns="0" tIns="0" rIns="0" bIns="0" rtlCol="0" anchor="ctr"/>
          <a:lstStyle/>
          <a:p>
            <a:pPr indent="0" marL="0">
              <a:buNone/>
            </a:pPr>
            <a:r>
              <a:rPr lang="en-US" sz="1100" b="1" spc="150" kern="0" dirty="0">
                <a:solidFill>
                  <a:srgbClr val="5C6170"/>
                </a:solidFill>
                <a:latin typeface="Calibri" pitchFamily="34" charset="0"/>
                <a:ea typeface="Calibri" pitchFamily="34" charset="-122"/>
                <a:cs typeface="Calibri" pitchFamily="34" charset="-120"/>
              </a:rPr>
              <a:t>WEB3 PRINCIPLE</a:t>
            </a:r>
            <a:endParaRPr lang="en-US" sz="1100" dirty="0"/>
          </a:p>
        </p:txBody>
      </p:sp>
      <p:sp>
        <p:nvSpPr>
          <p:cNvPr id="8" name="Text 5"/>
          <p:cNvSpPr txBox="1"/>
          <p:nvPr/>
        </p:nvSpPr>
        <p:spPr>
          <a:xfrm>
            <a:off x="6172200" y="2514600"/>
            <a:ext cx="5120640" cy="274320"/>
          </a:xfrm>
          <a:prstGeom prst="rect">
            <a:avLst/>
          </a:prstGeom>
          <a:noFill/>
          <a:ln/>
        </p:spPr>
        <p:txBody>
          <a:bodyPr wrap="square" lIns="0" tIns="0" rIns="0" bIns="0" rtlCol="0" anchor="ctr"/>
          <a:lstStyle/>
          <a:p>
            <a:pPr indent="0" marL="0">
              <a:buNone/>
            </a:pPr>
            <a:r>
              <a:rPr lang="en-US" sz="1100" b="1" spc="150" kern="0" dirty="0">
                <a:solidFill>
                  <a:srgbClr val="3DD7E5"/>
                </a:solidFill>
                <a:latin typeface="Calibri" pitchFamily="34" charset="0"/>
                <a:ea typeface="Calibri" pitchFamily="34" charset="-122"/>
                <a:cs typeface="Calibri" pitchFamily="34" charset="-120"/>
              </a:rPr>
              <a:t>LMX CLOUD, TODAY</a:t>
            </a:r>
            <a:endParaRPr lang="en-US" sz="1100" dirty="0"/>
          </a:p>
        </p:txBody>
      </p:sp>
      <p:sp>
        <p:nvSpPr>
          <p:cNvPr id="9" name="Shape 6"/>
          <p:cNvSpPr/>
          <p:nvPr/>
        </p:nvSpPr>
        <p:spPr>
          <a:xfrm>
            <a:off x="640080" y="2834640"/>
            <a:ext cx="5120640" cy="3383280"/>
          </a:xfrm>
          <a:prstGeom prst="roundRect">
            <a:avLst>
              <a:gd name="adj" fmla="val 2432"/>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10" name="Text 7"/>
          <p:cNvSpPr txBox="1"/>
          <p:nvPr/>
        </p:nvSpPr>
        <p:spPr>
          <a:xfrm>
            <a:off x="914400" y="3108960"/>
            <a:ext cx="4572000" cy="2926080"/>
          </a:xfrm>
          <a:prstGeom prst="rect">
            <a:avLst/>
          </a:prstGeom>
          <a:noFill/>
          <a:ln/>
        </p:spPr>
        <p:txBody>
          <a:bodyPr wrap="square" lIns="0" tIns="0" rIns="0" bIns="0" rtlCol="0" anchor="t"/>
          <a:lstStyle/>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Payments are just another API call, not a multi-day settlement process</a:t>
            </a:r>
            <a:endParaRPr lang="en-US" sz="1350" dirty="0"/>
          </a:p>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Enables pay-per-use pricing down to a single request</a:t>
            </a:r>
            <a:endParaRPr lang="en-US" sz="1350" dirty="0"/>
          </a:p>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Unlocks a genuinely new buyer: autonomous agents transacting with each other</a:t>
            </a:r>
            <a:endParaRPr lang="en-US" sz="1350" dirty="0"/>
          </a:p>
        </p:txBody>
      </p:sp>
      <p:sp>
        <p:nvSpPr>
          <p:cNvPr id="11" name="Shape 8"/>
          <p:cNvSpPr/>
          <p:nvPr/>
        </p:nvSpPr>
        <p:spPr>
          <a:xfrm>
            <a:off x="6172200" y="2834640"/>
            <a:ext cx="5394960" cy="3383280"/>
          </a:xfrm>
          <a:prstGeom prst="roundRect">
            <a:avLst>
              <a:gd name="adj" fmla="val 2432"/>
            </a:avLst>
          </a:prstGeom>
          <a:solidFill>
            <a:srgbClr val="1E2029"/>
          </a:solidFill>
          <a:ln w="12700">
            <a:solidFill>
              <a:srgbClr val="5B6BFF"/>
            </a:solidFill>
            <a:prstDash val="solid"/>
          </a:ln>
          <a:effectLst>
            <a:outerShdw sx="100000" sy="100000" kx="0" ky="0" algn="bl" rotWithShape="0" blurRad="127000" dist="38100" dir="5400000">
              <a:srgbClr val="000000">
                <a:alpha val="35000"/>
              </a:srgbClr>
            </a:outerShdw>
          </a:effectLst>
        </p:spPr>
      </p:sp>
      <p:sp>
        <p:nvSpPr>
          <p:cNvPr id="12" name="Text 9"/>
          <p:cNvSpPr txBox="1"/>
          <p:nvPr/>
        </p:nvSpPr>
        <p:spPr>
          <a:xfrm>
            <a:off x="6446520" y="3063240"/>
            <a:ext cx="4846320" cy="502920"/>
          </a:xfrm>
          <a:prstGeom prst="rect">
            <a:avLst/>
          </a:prstGeom>
          <a:noFill/>
          <a:ln/>
        </p:spPr>
        <p:txBody>
          <a:bodyPr wrap="square" lIns="0" tIns="0" rIns="0" bIns="0" rtlCol="0" anchor="ctr"/>
          <a:lstStyle/>
          <a:p>
            <a:pPr indent="0" marL="0">
              <a:lnSpc>
                <a:spcPts val="1900"/>
              </a:lnSpc>
              <a:buNone/>
            </a:pPr>
            <a:r>
              <a:rPr lang="en-US" sz="1550" b="1" dirty="0">
                <a:solidFill>
                  <a:srgbClr val="F2F4F8"/>
                </a:solidFill>
                <a:latin typeface="Calibri" pitchFamily="34" charset="0"/>
                <a:ea typeface="Calibri" pitchFamily="34" charset="-122"/>
                <a:cs typeface="Calibri" pitchFamily="34" charset="-120"/>
              </a:rPr>
              <a:t>Every agent gets a wallet; Grid settles pay-per-call in USDC via x402.</a:t>
            </a:r>
            <a:endParaRPr lang="en-US" sz="1550" dirty="0"/>
          </a:p>
        </p:txBody>
      </p:sp>
      <p:sp>
        <p:nvSpPr>
          <p:cNvPr id="13" name="Text 10"/>
          <p:cNvSpPr txBox="1"/>
          <p:nvPr/>
        </p:nvSpPr>
        <p:spPr>
          <a:xfrm>
            <a:off x="6446520" y="3657600"/>
            <a:ext cx="4846320" cy="2423160"/>
          </a:xfrm>
          <a:prstGeom prst="rect">
            <a:avLst/>
          </a:prstGeom>
          <a:noFill/>
          <a:ln/>
        </p:spPr>
        <p:txBody>
          <a:bodyPr wrap="square" lIns="0" tIns="0" rIns="0" bIns="0" rtlCol="0" anchor="t"/>
          <a:lstStyle/>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Inference, storage, and tool calls are metered and settled per request</a:t>
            </a:r>
            <a:endParaRPr lang="en-US" sz="1300" dirty="0"/>
          </a:p>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No invoices, no manual top-ups required to transact</a:t>
            </a:r>
            <a:endParaRPr lang="en-US" sz="1300" dirty="0"/>
          </a:p>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The rail that makes agent-to-agent commerce possible on LMX</a:t>
            </a:r>
            <a:endParaRPr lang="en-US" sz="1300" dirty="0"/>
          </a:p>
        </p:txBody>
      </p:sp>
      <p:sp>
        <p:nvSpPr>
          <p:cNvPr id="14" name="Text 11"/>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06</a:t>
            </a:r>
            <a:endParaRPr lang="en-US" sz="1100" dirty="0"/>
          </a:p>
        </p:txBody>
      </p:sp>
      <p:pic>
        <p:nvPicPr>
          <p:cNvPr id="15" name="Image 1" descr="/tmp/lmx_deck/assets/logo-icon.png">    </p:cNvPr>
          <p:cNvPicPr>
            <a:picLocks noChangeAspect="1"/>
          </p:cNvPicPr>
          <p:nvPr/>
        </p:nvPicPr>
        <p:blipFill>
          <a:blip r:embed="rId2">
            <a:alphaModFix amt="45000"/>
          </a:blip>
          <a:stretch>
            <a:fillRect/>
          </a:stretch>
        </p:blipFill>
        <p:spPr>
          <a:xfrm>
            <a:off x="11624767" y="6327648"/>
            <a:ext cx="292608" cy="2926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algn="l" indent="0" marL="0">
              <a:buNone/>
            </a:pPr>
            <a:r>
              <a:rPr lang="en-US" sz="1300" b="1" spc="200" kern="0" dirty="0">
                <a:solidFill>
                  <a:srgbClr val="3DD7E5"/>
                </a:solidFill>
                <a:latin typeface="Calibri" pitchFamily="34" charset="0"/>
                <a:ea typeface="Calibri" pitchFamily="34" charset="-122"/>
                <a:cs typeface="Calibri" pitchFamily="34" charset="-120"/>
              </a:rPr>
              <a:t>PRINCIPLE 4 OF 5</a:t>
            </a:r>
            <a:endParaRPr lang="en-US" sz="1300" dirty="0"/>
          </a:p>
        </p:txBody>
      </p:sp>
      <p:sp>
        <p:nvSpPr>
          <p:cNvPr id="3" name="Text 1"/>
          <p:cNvSpPr txBox="1"/>
          <p:nvPr/>
        </p:nvSpPr>
        <p:spPr>
          <a:xfrm>
            <a:off x="640080" y="777240"/>
            <a:ext cx="7315200" cy="914400"/>
          </a:xfrm>
          <a:prstGeom prst="rect">
            <a:avLst/>
          </a:prstGeom>
          <a:noFill/>
          <a:ln/>
        </p:spPr>
        <p:txBody>
          <a:bodyPr wrap="square" lIns="0" tIns="0" rIns="0" bIns="0" rtlCol="0" anchor="ctr"/>
          <a:lstStyle/>
          <a:p>
            <a:pPr algn="l" indent="0" marL="0">
              <a:lnSpc>
                <a:spcPts val="3150"/>
              </a:lnSpc>
              <a:buNone/>
            </a:pPr>
            <a:r>
              <a:rPr lang="en-US" sz="3000" b="1" dirty="0">
                <a:solidFill>
                  <a:srgbClr val="F2F4F8"/>
                </a:solidFill>
                <a:latin typeface="Calibri" pitchFamily="34" charset="0"/>
                <a:ea typeface="Calibri" pitchFamily="34" charset="-122"/>
                <a:cs typeface="Calibri" pitchFamily="34" charset="-120"/>
              </a:rPr>
              <a:t>Self-Custody &amp; Ownership</a:t>
            </a:r>
            <a:endParaRPr lang="en-US" sz="3000" dirty="0"/>
          </a:p>
        </p:txBody>
      </p:sp>
      <p:sp>
        <p:nvSpPr>
          <p:cNvPr id="4" name="Shape 2"/>
          <p:cNvSpPr/>
          <p:nvPr/>
        </p:nvSpPr>
        <p:spPr>
          <a:xfrm>
            <a:off x="10378440" y="502920"/>
            <a:ext cx="1051560" cy="1051560"/>
          </a:xfrm>
          <a:prstGeom prst="ellipse">
            <a:avLst/>
          </a:prstGeom>
          <a:solidFill>
            <a:srgbClr val="1E2029"/>
          </a:solidFill>
          <a:ln w="19050">
            <a:solidFill>
              <a:srgbClr val="3DD7E5"/>
            </a:solidFill>
            <a:prstDash val="solid"/>
          </a:ln>
        </p:spPr>
      </p:sp>
      <p:pic>
        <p:nvPicPr>
          <p:cNvPr id="5" name="Image 0" descr="/tmp/lmx_deck/assets/icon-ownership.png">    </p:cNvPr>
          <p:cNvPicPr>
            <a:picLocks noChangeAspect="1"/>
          </p:cNvPicPr>
          <p:nvPr/>
        </p:nvPicPr>
        <p:blipFill>
          <a:blip r:embed="rId1"/>
          <a:stretch>
            <a:fillRect/>
          </a:stretch>
        </p:blipFill>
        <p:spPr>
          <a:xfrm>
            <a:off x="10615041" y="739521"/>
            <a:ext cx="578358" cy="578358"/>
          </a:xfrm>
          <a:prstGeom prst="rect">
            <a:avLst/>
          </a:prstGeom>
        </p:spPr>
      </p:pic>
      <p:sp>
        <p:nvSpPr>
          <p:cNvPr id="6" name="Text 3"/>
          <p:cNvSpPr txBox="1"/>
          <p:nvPr/>
        </p:nvSpPr>
        <p:spPr>
          <a:xfrm>
            <a:off x="640080" y="1554480"/>
            <a:ext cx="10515600" cy="777240"/>
          </a:xfrm>
          <a:prstGeom prst="rect">
            <a:avLst/>
          </a:prstGeom>
          <a:noFill/>
          <a:ln/>
        </p:spPr>
        <p:txBody>
          <a:bodyPr wrap="square" lIns="0" tIns="0" rIns="0" bIns="0" rtlCol="0" anchor="ctr"/>
          <a:lstStyle/>
          <a:p>
            <a:pPr indent="0" marL="0">
              <a:lnSpc>
                <a:spcPts val="1900"/>
              </a:lnSpc>
              <a:buNone/>
            </a:pPr>
            <a:r>
              <a:rPr lang="en-US" sz="1500" dirty="0">
                <a:solidFill>
                  <a:srgbClr val="9AA0AE"/>
                </a:solidFill>
                <a:latin typeface="Calibri" pitchFamily="34" charset="0"/>
                <a:ea typeface="Calibri" pitchFamily="34" charset="-122"/>
                <a:cs typeface="Calibri" pitchFamily="34" charset="-120"/>
              </a:rPr>
              <a:t>You—or your agent—hold your own data and assets. A platform can't quietly take them away, lock them in, or sell access without you.</a:t>
            </a:r>
            <a:endParaRPr lang="en-US" sz="1500" dirty="0"/>
          </a:p>
        </p:txBody>
      </p:sp>
      <p:sp>
        <p:nvSpPr>
          <p:cNvPr id="7" name="Text 4"/>
          <p:cNvSpPr txBox="1"/>
          <p:nvPr/>
        </p:nvSpPr>
        <p:spPr>
          <a:xfrm>
            <a:off x="640080" y="2514600"/>
            <a:ext cx="5120640" cy="274320"/>
          </a:xfrm>
          <a:prstGeom prst="rect">
            <a:avLst/>
          </a:prstGeom>
          <a:noFill/>
          <a:ln/>
        </p:spPr>
        <p:txBody>
          <a:bodyPr wrap="square" lIns="0" tIns="0" rIns="0" bIns="0" rtlCol="0" anchor="ctr"/>
          <a:lstStyle/>
          <a:p>
            <a:pPr indent="0" marL="0">
              <a:buNone/>
            </a:pPr>
            <a:r>
              <a:rPr lang="en-US" sz="1100" b="1" spc="150" kern="0" dirty="0">
                <a:solidFill>
                  <a:srgbClr val="5C6170"/>
                </a:solidFill>
                <a:latin typeface="Calibri" pitchFamily="34" charset="0"/>
                <a:ea typeface="Calibri" pitchFamily="34" charset="-122"/>
                <a:cs typeface="Calibri" pitchFamily="34" charset="-120"/>
              </a:rPr>
              <a:t>WEB3 PRINCIPLE</a:t>
            </a:r>
            <a:endParaRPr lang="en-US" sz="1100" dirty="0"/>
          </a:p>
        </p:txBody>
      </p:sp>
      <p:sp>
        <p:nvSpPr>
          <p:cNvPr id="8" name="Text 5"/>
          <p:cNvSpPr txBox="1"/>
          <p:nvPr/>
        </p:nvSpPr>
        <p:spPr>
          <a:xfrm>
            <a:off x="6172200" y="2514600"/>
            <a:ext cx="5120640" cy="274320"/>
          </a:xfrm>
          <a:prstGeom prst="rect">
            <a:avLst/>
          </a:prstGeom>
          <a:noFill/>
          <a:ln/>
        </p:spPr>
        <p:txBody>
          <a:bodyPr wrap="square" lIns="0" tIns="0" rIns="0" bIns="0" rtlCol="0" anchor="ctr"/>
          <a:lstStyle/>
          <a:p>
            <a:pPr indent="0" marL="0">
              <a:buNone/>
            </a:pPr>
            <a:r>
              <a:rPr lang="en-US" sz="1100" b="1" spc="150" kern="0" dirty="0">
                <a:solidFill>
                  <a:srgbClr val="3DD7E5"/>
                </a:solidFill>
                <a:latin typeface="Calibri" pitchFamily="34" charset="0"/>
                <a:ea typeface="Calibri" pitchFamily="34" charset="-122"/>
                <a:cs typeface="Calibri" pitchFamily="34" charset="-120"/>
              </a:rPr>
              <a:t>LMX CLOUD, TODAY</a:t>
            </a:r>
            <a:endParaRPr lang="en-US" sz="1100" dirty="0"/>
          </a:p>
        </p:txBody>
      </p:sp>
      <p:sp>
        <p:nvSpPr>
          <p:cNvPr id="9" name="Shape 6"/>
          <p:cNvSpPr/>
          <p:nvPr/>
        </p:nvSpPr>
        <p:spPr>
          <a:xfrm>
            <a:off x="640080" y="2834640"/>
            <a:ext cx="5120640" cy="3383280"/>
          </a:xfrm>
          <a:prstGeom prst="roundRect">
            <a:avLst>
              <a:gd name="adj" fmla="val 2432"/>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10" name="Text 7"/>
          <p:cNvSpPr txBox="1"/>
          <p:nvPr/>
        </p:nvSpPr>
        <p:spPr>
          <a:xfrm>
            <a:off x="914400" y="3108960"/>
            <a:ext cx="4572000" cy="2926080"/>
          </a:xfrm>
          <a:prstGeom prst="rect">
            <a:avLst/>
          </a:prstGeom>
          <a:noFill/>
          <a:ln/>
        </p:spPr>
        <p:txBody>
          <a:bodyPr wrap="square" lIns="0" tIns="0" rIns="0" bIns="0" rtlCol="0" anchor="t"/>
          <a:lstStyle/>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Your keys, your data—not a platform's terms of service</a:t>
            </a:r>
            <a:endParaRPr lang="en-US" sz="1350" dirty="0"/>
          </a:p>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Data can still be permissioned and monetized, just under owner control</a:t>
            </a:r>
            <a:endParaRPr lang="en-US" sz="1350" dirty="0"/>
          </a:p>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The opposite of a walled garden where the platform is the only custodian</a:t>
            </a:r>
            <a:endParaRPr lang="en-US" sz="1350" dirty="0"/>
          </a:p>
        </p:txBody>
      </p:sp>
      <p:sp>
        <p:nvSpPr>
          <p:cNvPr id="11" name="Shape 8"/>
          <p:cNvSpPr/>
          <p:nvPr/>
        </p:nvSpPr>
        <p:spPr>
          <a:xfrm>
            <a:off x="6172200" y="2834640"/>
            <a:ext cx="5394960" cy="3383280"/>
          </a:xfrm>
          <a:prstGeom prst="roundRect">
            <a:avLst>
              <a:gd name="adj" fmla="val 2432"/>
            </a:avLst>
          </a:prstGeom>
          <a:solidFill>
            <a:srgbClr val="1E2029"/>
          </a:solidFill>
          <a:ln w="12700">
            <a:solidFill>
              <a:srgbClr val="5B6BFF"/>
            </a:solidFill>
            <a:prstDash val="solid"/>
          </a:ln>
          <a:effectLst>
            <a:outerShdw sx="100000" sy="100000" kx="0" ky="0" algn="bl" rotWithShape="0" blurRad="127000" dist="38100" dir="5400000">
              <a:srgbClr val="000000">
                <a:alpha val="35000"/>
              </a:srgbClr>
            </a:outerShdw>
          </a:effectLst>
        </p:spPr>
      </p:sp>
      <p:sp>
        <p:nvSpPr>
          <p:cNvPr id="12" name="Text 9"/>
          <p:cNvSpPr txBox="1"/>
          <p:nvPr/>
        </p:nvSpPr>
        <p:spPr>
          <a:xfrm>
            <a:off x="6446520" y="3063240"/>
            <a:ext cx="4846320" cy="502920"/>
          </a:xfrm>
          <a:prstGeom prst="rect">
            <a:avLst/>
          </a:prstGeom>
          <a:noFill/>
          <a:ln/>
        </p:spPr>
        <p:txBody>
          <a:bodyPr wrap="square" lIns="0" tIns="0" rIns="0" bIns="0" rtlCol="0" anchor="ctr"/>
          <a:lstStyle/>
          <a:p>
            <a:pPr indent="0" marL="0">
              <a:lnSpc>
                <a:spcPts val="1900"/>
              </a:lnSpc>
              <a:buNone/>
            </a:pPr>
            <a:r>
              <a:rPr lang="en-US" sz="1550" b="1" dirty="0">
                <a:solidFill>
                  <a:srgbClr val="F2F4F8"/>
                </a:solidFill>
                <a:latin typeface="Calibri" pitchFamily="34" charset="0"/>
                <a:ea typeface="Calibri" pitchFamily="34" charset="-122"/>
                <a:cs typeface="Calibri" pitchFamily="34" charset="-120"/>
              </a:rPr>
              <a:t>The Vault: every agent's memory, owned and hosted by its own operator.</a:t>
            </a:r>
            <a:endParaRPr lang="en-US" sz="1550" dirty="0"/>
          </a:p>
        </p:txBody>
      </p:sp>
      <p:sp>
        <p:nvSpPr>
          <p:cNvPr id="13" name="Text 10"/>
          <p:cNvSpPr txBox="1"/>
          <p:nvPr/>
        </p:nvSpPr>
        <p:spPr>
          <a:xfrm>
            <a:off x="6446520" y="3657600"/>
            <a:ext cx="4846320" cy="2423160"/>
          </a:xfrm>
          <a:prstGeom prst="rect">
            <a:avLst/>
          </a:prstGeom>
          <a:noFill/>
          <a:ln/>
        </p:spPr>
        <p:txBody>
          <a:bodyPr wrap="square" lIns="0" tIns="0" rIns="0" bIns="0" rtlCol="0" anchor="t"/>
          <a:lstStyle/>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Federated, self-hosted per operator—never one LMX-run warehouse of everyone's data</a:t>
            </a:r>
            <a:endParaRPr lang="en-US" sz="1300" dirty="0"/>
          </a:p>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LMX runs only a thin manifest registry (owner, endpoint, price)—never the content</a:t>
            </a:r>
            <a:endParaRPr lang="en-US" sz="1300" dirty="0"/>
          </a:p>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Permissioned reads settle through the same Grid + receipt mechanism</a:t>
            </a:r>
            <a:endParaRPr lang="en-US" sz="1300" dirty="0"/>
          </a:p>
        </p:txBody>
      </p:sp>
      <p:sp>
        <p:nvSpPr>
          <p:cNvPr id="14" name="Text 11"/>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07</a:t>
            </a:r>
            <a:endParaRPr lang="en-US" sz="1100" dirty="0"/>
          </a:p>
        </p:txBody>
      </p:sp>
      <p:pic>
        <p:nvPicPr>
          <p:cNvPr id="15" name="Image 1" descr="/tmp/lmx_deck/assets/logo-icon.png">    </p:cNvPr>
          <p:cNvPicPr>
            <a:picLocks noChangeAspect="1"/>
          </p:cNvPicPr>
          <p:nvPr/>
        </p:nvPicPr>
        <p:blipFill>
          <a:blip r:embed="rId2">
            <a:alphaModFix amt="45000"/>
          </a:blip>
          <a:stretch>
            <a:fillRect/>
          </a:stretch>
        </p:blipFill>
        <p:spPr>
          <a:xfrm>
            <a:off x="11624767" y="6327648"/>
            <a:ext cx="292608" cy="2926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algn="l" indent="0" marL="0">
              <a:buNone/>
            </a:pPr>
            <a:r>
              <a:rPr lang="en-US" sz="1300" b="1" spc="200" kern="0" dirty="0">
                <a:solidFill>
                  <a:srgbClr val="3DD7E5"/>
                </a:solidFill>
                <a:latin typeface="Calibri" pitchFamily="34" charset="0"/>
                <a:ea typeface="Calibri" pitchFamily="34" charset="-122"/>
                <a:cs typeface="Calibri" pitchFamily="34" charset="-120"/>
              </a:rPr>
              <a:t>PRINCIPLE 5 OF 5</a:t>
            </a:r>
            <a:endParaRPr lang="en-US" sz="1300" dirty="0"/>
          </a:p>
        </p:txBody>
      </p:sp>
      <p:sp>
        <p:nvSpPr>
          <p:cNvPr id="3" name="Text 1"/>
          <p:cNvSpPr txBox="1"/>
          <p:nvPr/>
        </p:nvSpPr>
        <p:spPr>
          <a:xfrm>
            <a:off x="640080" y="777240"/>
            <a:ext cx="7315200" cy="914400"/>
          </a:xfrm>
          <a:prstGeom prst="rect">
            <a:avLst/>
          </a:prstGeom>
          <a:noFill/>
          <a:ln/>
        </p:spPr>
        <p:txBody>
          <a:bodyPr wrap="square" lIns="0" tIns="0" rIns="0" bIns="0" rtlCol="0" anchor="ctr"/>
          <a:lstStyle/>
          <a:p>
            <a:pPr algn="l" indent="0" marL="0">
              <a:lnSpc>
                <a:spcPts val="3150"/>
              </a:lnSpc>
              <a:buNone/>
            </a:pPr>
            <a:r>
              <a:rPr lang="en-US" sz="3000" b="1" dirty="0">
                <a:solidFill>
                  <a:srgbClr val="F2F4F8"/>
                </a:solidFill>
                <a:latin typeface="Calibri" pitchFamily="34" charset="0"/>
                <a:ea typeface="Calibri" pitchFamily="34" charset="-122"/>
                <a:cs typeface="Calibri" pitchFamily="34" charset="-120"/>
              </a:rPr>
              <a:t>Open Composability</a:t>
            </a:r>
            <a:endParaRPr lang="en-US" sz="3000" dirty="0"/>
          </a:p>
        </p:txBody>
      </p:sp>
      <p:sp>
        <p:nvSpPr>
          <p:cNvPr id="4" name="Shape 2"/>
          <p:cNvSpPr/>
          <p:nvPr/>
        </p:nvSpPr>
        <p:spPr>
          <a:xfrm>
            <a:off x="10378440" y="502920"/>
            <a:ext cx="1051560" cy="1051560"/>
          </a:xfrm>
          <a:prstGeom prst="ellipse">
            <a:avLst/>
          </a:prstGeom>
          <a:solidFill>
            <a:srgbClr val="1E2029"/>
          </a:solidFill>
          <a:ln w="19050">
            <a:solidFill>
              <a:srgbClr val="3DD7E5"/>
            </a:solidFill>
            <a:prstDash val="solid"/>
          </a:ln>
        </p:spPr>
      </p:sp>
      <p:pic>
        <p:nvPicPr>
          <p:cNvPr id="5" name="Image 0" descr="/tmp/lmx_deck/assets/icon-composability.png">    </p:cNvPr>
          <p:cNvPicPr>
            <a:picLocks noChangeAspect="1"/>
          </p:cNvPicPr>
          <p:nvPr/>
        </p:nvPicPr>
        <p:blipFill>
          <a:blip r:embed="rId1"/>
          <a:stretch>
            <a:fillRect/>
          </a:stretch>
        </p:blipFill>
        <p:spPr>
          <a:xfrm>
            <a:off x="10615041" y="739521"/>
            <a:ext cx="578358" cy="578358"/>
          </a:xfrm>
          <a:prstGeom prst="rect">
            <a:avLst/>
          </a:prstGeom>
        </p:spPr>
      </p:pic>
      <p:sp>
        <p:nvSpPr>
          <p:cNvPr id="6" name="Text 3"/>
          <p:cNvSpPr txBox="1"/>
          <p:nvPr/>
        </p:nvSpPr>
        <p:spPr>
          <a:xfrm>
            <a:off x="640080" y="1554480"/>
            <a:ext cx="10515600" cy="777240"/>
          </a:xfrm>
          <a:prstGeom prst="rect">
            <a:avLst/>
          </a:prstGeom>
          <a:noFill/>
          <a:ln/>
        </p:spPr>
        <p:txBody>
          <a:bodyPr wrap="square" lIns="0" tIns="0" rIns="0" bIns="0" rtlCol="0" anchor="ctr"/>
          <a:lstStyle/>
          <a:p>
            <a:pPr indent="0" marL="0">
              <a:lnSpc>
                <a:spcPts val="1900"/>
              </a:lnSpc>
              <a:buNone/>
            </a:pPr>
            <a:r>
              <a:rPr lang="en-US" sz="1500" dirty="0">
                <a:solidFill>
                  <a:srgbClr val="9AA0AE"/>
                </a:solidFill>
                <a:latin typeface="Calibri" pitchFamily="34" charset="0"/>
                <a:ea typeface="Calibri" pitchFamily="34" charset="-122"/>
                <a:cs typeface="Calibri" pitchFamily="34" charset="-120"/>
              </a:rPr>
              <a:t>Protocols are building blocks anyone can plug into permissionlessly—"money legos"—instead of a closed API only the platform's own apps can use.</a:t>
            </a:r>
            <a:endParaRPr lang="en-US" sz="1500" dirty="0"/>
          </a:p>
        </p:txBody>
      </p:sp>
      <p:sp>
        <p:nvSpPr>
          <p:cNvPr id="7" name="Text 4"/>
          <p:cNvSpPr txBox="1"/>
          <p:nvPr/>
        </p:nvSpPr>
        <p:spPr>
          <a:xfrm>
            <a:off x="640080" y="2514600"/>
            <a:ext cx="5120640" cy="274320"/>
          </a:xfrm>
          <a:prstGeom prst="rect">
            <a:avLst/>
          </a:prstGeom>
          <a:noFill/>
          <a:ln/>
        </p:spPr>
        <p:txBody>
          <a:bodyPr wrap="square" lIns="0" tIns="0" rIns="0" bIns="0" rtlCol="0" anchor="ctr"/>
          <a:lstStyle/>
          <a:p>
            <a:pPr indent="0" marL="0">
              <a:buNone/>
            </a:pPr>
            <a:r>
              <a:rPr lang="en-US" sz="1100" b="1" spc="150" kern="0" dirty="0">
                <a:solidFill>
                  <a:srgbClr val="5C6170"/>
                </a:solidFill>
                <a:latin typeface="Calibri" pitchFamily="34" charset="0"/>
                <a:ea typeface="Calibri" pitchFamily="34" charset="-122"/>
                <a:cs typeface="Calibri" pitchFamily="34" charset="-120"/>
              </a:rPr>
              <a:t>WEB3 PRINCIPLE</a:t>
            </a:r>
            <a:endParaRPr lang="en-US" sz="1100" dirty="0"/>
          </a:p>
        </p:txBody>
      </p:sp>
      <p:sp>
        <p:nvSpPr>
          <p:cNvPr id="8" name="Text 5"/>
          <p:cNvSpPr txBox="1"/>
          <p:nvPr/>
        </p:nvSpPr>
        <p:spPr>
          <a:xfrm>
            <a:off x="6172200" y="2514600"/>
            <a:ext cx="5120640" cy="274320"/>
          </a:xfrm>
          <a:prstGeom prst="rect">
            <a:avLst/>
          </a:prstGeom>
          <a:noFill/>
          <a:ln/>
        </p:spPr>
        <p:txBody>
          <a:bodyPr wrap="square" lIns="0" tIns="0" rIns="0" bIns="0" rtlCol="0" anchor="ctr"/>
          <a:lstStyle/>
          <a:p>
            <a:pPr indent="0" marL="0">
              <a:buNone/>
            </a:pPr>
            <a:r>
              <a:rPr lang="en-US" sz="1100" b="1" spc="150" kern="0" dirty="0">
                <a:solidFill>
                  <a:srgbClr val="3DD7E5"/>
                </a:solidFill>
                <a:latin typeface="Calibri" pitchFamily="34" charset="0"/>
                <a:ea typeface="Calibri" pitchFamily="34" charset="-122"/>
                <a:cs typeface="Calibri" pitchFamily="34" charset="-120"/>
              </a:rPr>
              <a:t>LMX CLOUD, TODAY</a:t>
            </a:r>
            <a:endParaRPr lang="en-US" sz="1100" dirty="0"/>
          </a:p>
        </p:txBody>
      </p:sp>
      <p:sp>
        <p:nvSpPr>
          <p:cNvPr id="9" name="Shape 6"/>
          <p:cNvSpPr/>
          <p:nvPr/>
        </p:nvSpPr>
        <p:spPr>
          <a:xfrm>
            <a:off x="640080" y="2834640"/>
            <a:ext cx="5120640" cy="3383280"/>
          </a:xfrm>
          <a:prstGeom prst="roundRect">
            <a:avLst>
              <a:gd name="adj" fmla="val 2432"/>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10" name="Text 7"/>
          <p:cNvSpPr txBox="1"/>
          <p:nvPr/>
        </p:nvSpPr>
        <p:spPr>
          <a:xfrm>
            <a:off x="914400" y="3108960"/>
            <a:ext cx="4572000" cy="2926080"/>
          </a:xfrm>
          <a:prstGeom prst="rect">
            <a:avLst/>
          </a:prstGeom>
          <a:noFill/>
          <a:ln/>
        </p:spPr>
        <p:txBody>
          <a:bodyPr wrap="square" lIns="0" tIns="0" rIns="0" bIns="0" rtlCol="0" anchor="t"/>
          <a:lstStyle/>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Open standards let independent builders integrate without asking for a partnership deal</a:t>
            </a:r>
            <a:endParaRPr lang="en-US" sz="1350" dirty="0"/>
          </a:p>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Value compounds as more builders stack on top of the same primitives</a:t>
            </a:r>
            <a:endParaRPr lang="en-US" sz="1350" dirty="0"/>
          </a:p>
          <a:p>
            <a:pPr marL="342900" indent="-342900">
              <a:lnSpc>
                <a:spcPct val="135000"/>
              </a:lnSpc>
              <a:spcAft>
                <a:spcPts val="1000"/>
              </a:spcAft>
              <a:buSzPct val="100000"/>
              <a:buChar char="•"/>
            </a:pPr>
            <a:r>
              <a:rPr lang="en-US" sz="1350" dirty="0">
                <a:solidFill>
                  <a:srgbClr val="F2F4F8"/>
                </a:solidFill>
                <a:latin typeface="Calibri" pitchFamily="34" charset="0"/>
                <a:ea typeface="Calibri" pitchFamily="34" charset="-122"/>
                <a:cs typeface="Calibri" pitchFamily="34" charset="-120"/>
              </a:rPr>
              <a:t>The network effect of Web3: composability, not lock-in</a:t>
            </a:r>
            <a:endParaRPr lang="en-US" sz="1350" dirty="0"/>
          </a:p>
        </p:txBody>
      </p:sp>
      <p:sp>
        <p:nvSpPr>
          <p:cNvPr id="11" name="Shape 8"/>
          <p:cNvSpPr/>
          <p:nvPr/>
        </p:nvSpPr>
        <p:spPr>
          <a:xfrm>
            <a:off x="6172200" y="2834640"/>
            <a:ext cx="5394960" cy="3383280"/>
          </a:xfrm>
          <a:prstGeom prst="roundRect">
            <a:avLst>
              <a:gd name="adj" fmla="val 2432"/>
            </a:avLst>
          </a:prstGeom>
          <a:solidFill>
            <a:srgbClr val="1E2029"/>
          </a:solidFill>
          <a:ln w="12700">
            <a:solidFill>
              <a:srgbClr val="5B6BFF"/>
            </a:solidFill>
            <a:prstDash val="solid"/>
          </a:ln>
          <a:effectLst>
            <a:outerShdw sx="100000" sy="100000" kx="0" ky="0" algn="bl" rotWithShape="0" blurRad="127000" dist="38100" dir="5400000">
              <a:srgbClr val="000000">
                <a:alpha val="35000"/>
              </a:srgbClr>
            </a:outerShdw>
          </a:effectLst>
        </p:spPr>
      </p:sp>
      <p:sp>
        <p:nvSpPr>
          <p:cNvPr id="12" name="Text 9"/>
          <p:cNvSpPr txBox="1"/>
          <p:nvPr/>
        </p:nvSpPr>
        <p:spPr>
          <a:xfrm>
            <a:off x="6446520" y="3063240"/>
            <a:ext cx="4846320" cy="502920"/>
          </a:xfrm>
          <a:prstGeom prst="rect">
            <a:avLst/>
          </a:prstGeom>
          <a:noFill/>
          <a:ln/>
        </p:spPr>
        <p:txBody>
          <a:bodyPr wrap="square" lIns="0" tIns="0" rIns="0" bIns="0" rtlCol="0" anchor="ctr"/>
          <a:lstStyle/>
          <a:p>
            <a:pPr indent="0" marL="0">
              <a:lnSpc>
                <a:spcPts val="1900"/>
              </a:lnSpc>
              <a:buNone/>
            </a:pPr>
            <a:r>
              <a:rPr lang="en-US" sz="1550" b="1" dirty="0">
                <a:solidFill>
                  <a:srgbClr val="F2F4F8"/>
                </a:solidFill>
                <a:latin typeface="Calibri" pitchFamily="34" charset="0"/>
                <a:ea typeface="Calibri" pitchFamily="34" charset="-122"/>
                <a:cs typeface="Calibri" pitchFamily="34" charset="-120"/>
              </a:rPr>
              <a:t>LMX plugs into the open agent economy instead of walling it off.</a:t>
            </a:r>
            <a:endParaRPr lang="en-US" sz="1550" dirty="0"/>
          </a:p>
        </p:txBody>
      </p:sp>
      <p:sp>
        <p:nvSpPr>
          <p:cNvPr id="13" name="Text 10"/>
          <p:cNvSpPr txBox="1"/>
          <p:nvPr/>
        </p:nvSpPr>
        <p:spPr>
          <a:xfrm>
            <a:off x="6446520" y="3657600"/>
            <a:ext cx="4846320" cy="2423160"/>
          </a:xfrm>
          <a:prstGeom prst="rect">
            <a:avLst/>
          </a:prstGeom>
          <a:noFill/>
          <a:ln/>
        </p:spPr>
        <p:txBody>
          <a:bodyPr wrap="square" lIns="0" tIns="0" rIns="0" bIns="0" rtlCol="0" anchor="t"/>
          <a:lstStyle/>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MCP server registry: any wallet-verified provider can list a callable function</a:t>
            </a:r>
            <a:endParaRPr lang="en-US" sz="1300" dirty="0"/>
          </a:p>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Distribution through x402 Bazaar, Agentic.Market, and an ElizaOS plugin</a:t>
            </a:r>
            <a:endParaRPr lang="en-US" sz="1300" dirty="0"/>
          </a:p>
          <a:p>
            <a:pPr marL="342900" indent="-342900">
              <a:lnSpc>
                <a:spcPct val="132000"/>
              </a:lnSpc>
              <a:spcAft>
                <a:spcPts val="900"/>
              </a:spcAft>
              <a:buSzPct val="100000"/>
              <a:buChar char="•"/>
            </a:pPr>
            <a:r>
              <a:rPr lang="en-US" sz="1300" dirty="0">
                <a:solidFill>
                  <a:srgbClr val="F2F4F8"/>
                </a:solidFill>
                <a:latin typeface="Calibri" pitchFamily="34" charset="0"/>
                <a:ea typeface="Calibri" pitchFamily="34" charset="-122"/>
                <a:cs typeface="Calibri" pitchFamily="34" charset="-120"/>
              </a:rPr>
              <a:t>A listed seller and a callable function are the same object—self-serve, no human review gate</a:t>
            </a:r>
            <a:endParaRPr lang="en-US" sz="1300" dirty="0"/>
          </a:p>
        </p:txBody>
      </p:sp>
      <p:sp>
        <p:nvSpPr>
          <p:cNvPr id="14" name="Text 11"/>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08</a:t>
            </a:r>
            <a:endParaRPr lang="en-US" sz="1100" dirty="0"/>
          </a:p>
        </p:txBody>
      </p:sp>
      <p:pic>
        <p:nvPicPr>
          <p:cNvPr id="15" name="Image 1" descr="/tmp/lmx_deck/assets/logo-icon.png">    </p:cNvPr>
          <p:cNvPicPr>
            <a:picLocks noChangeAspect="1"/>
          </p:cNvPicPr>
          <p:nvPr/>
        </p:nvPicPr>
        <p:blipFill>
          <a:blip r:embed="rId2">
            <a:alphaModFix amt="45000"/>
          </a:blip>
          <a:stretch>
            <a:fillRect/>
          </a:stretch>
        </p:blipFill>
        <p:spPr>
          <a:xfrm>
            <a:off x="11624767" y="6327648"/>
            <a:ext cx="292608" cy="2926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algn="l" indent="0" marL="0">
              <a:buNone/>
            </a:pPr>
            <a:r>
              <a:rPr lang="en-US" sz="1300" b="1" spc="200" kern="0" dirty="0">
                <a:solidFill>
                  <a:srgbClr val="3DD7E5"/>
                </a:solidFill>
                <a:latin typeface="Calibri" pitchFamily="34" charset="0"/>
                <a:ea typeface="Calibri" pitchFamily="34" charset="-122"/>
                <a:cs typeface="Calibri" pitchFamily="34" charset="-120"/>
              </a:rPr>
              <a:t>ASSEMBLED</a:t>
            </a:r>
            <a:endParaRPr lang="en-US" sz="1300" dirty="0"/>
          </a:p>
        </p:txBody>
      </p:sp>
      <p:sp>
        <p:nvSpPr>
          <p:cNvPr id="3" name="Text 1"/>
          <p:cNvSpPr txBox="1"/>
          <p:nvPr/>
        </p:nvSpPr>
        <p:spPr>
          <a:xfrm>
            <a:off x="640080" y="777240"/>
            <a:ext cx="9601200" cy="914400"/>
          </a:xfrm>
          <a:prstGeom prst="rect">
            <a:avLst/>
          </a:prstGeom>
          <a:noFill/>
          <a:ln/>
        </p:spPr>
        <p:txBody>
          <a:bodyPr wrap="square" lIns="0" tIns="0" rIns="0" bIns="0" rtlCol="0" anchor="ctr"/>
          <a:lstStyle/>
          <a:p>
            <a:pPr algn="l" indent="0" marL="0">
              <a:lnSpc>
                <a:spcPts val="3600"/>
              </a:lnSpc>
              <a:buNone/>
            </a:pPr>
            <a:r>
              <a:rPr lang="en-US" sz="3400" b="1" dirty="0">
                <a:solidFill>
                  <a:srgbClr val="F2F4F8"/>
                </a:solidFill>
                <a:latin typeface="Calibri" pitchFamily="34" charset="0"/>
                <a:ea typeface="Calibri" pitchFamily="34" charset="-122"/>
                <a:cs typeface="Calibri" pitchFamily="34" charset="-120"/>
              </a:rPr>
              <a:t>Five principles, one agent model</a:t>
            </a:r>
            <a:endParaRPr lang="en-US" sz="3400" dirty="0"/>
          </a:p>
        </p:txBody>
      </p:sp>
      <p:sp>
        <p:nvSpPr>
          <p:cNvPr id="4" name="Text 2"/>
          <p:cNvSpPr txBox="1"/>
          <p:nvPr/>
        </p:nvSpPr>
        <p:spPr>
          <a:xfrm>
            <a:off x="640080" y="1508760"/>
            <a:ext cx="10515600" cy="457200"/>
          </a:xfrm>
          <a:prstGeom prst="rect">
            <a:avLst/>
          </a:prstGeom>
          <a:noFill/>
          <a:ln/>
        </p:spPr>
        <p:txBody>
          <a:bodyPr wrap="square" lIns="0" tIns="0" rIns="0" bIns="0" rtlCol="0" anchor="ctr"/>
          <a:lstStyle/>
          <a:p>
            <a:pPr indent="0" marL="0">
              <a:buNone/>
            </a:pPr>
            <a:r>
              <a:rPr lang="en-US" sz="1400" dirty="0">
                <a:solidFill>
                  <a:srgbClr val="9AA0AE"/>
                </a:solidFill>
                <a:latin typeface="Calibri" pitchFamily="34" charset="0"/>
                <a:ea typeface="Calibri" pitchFamily="34" charset="-122"/>
                <a:cs typeface="Calibri" pitchFamily="34" charset="-120"/>
              </a:rPr>
              <a:t>Every lmx.agent is built from the same four primitives—Grid is the settlement and proof layer underneath all of them.</a:t>
            </a:r>
            <a:endParaRPr lang="en-US" sz="1400" dirty="0"/>
          </a:p>
        </p:txBody>
      </p:sp>
      <p:sp>
        <p:nvSpPr>
          <p:cNvPr id="5" name="Shape 3"/>
          <p:cNvSpPr/>
          <p:nvPr/>
        </p:nvSpPr>
        <p:spPr>
          <a:xfrm>
            <a:off x="774040" y="2286000"/>
            <a:ext cx="2468880" cy="1965960"/>
          </a:xfrm>
          <a:prstGeom prst="roundRect">
            <a:avLst>
              <a:gd name="adj" fmla="val 4186"/>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6" name="Shape 4"/>
          <p:cNvSpPr/>
          <p:nvPr/>
        </p:nvSpPr>
        <p:spPr>
          <a:xfrm>
            <a:off x="1679296" y="2560320"/>
            <a:ext cx="658368" cy="658368"/>
          </a:xfrm>
          <a:prstGeom prst="ellipse">
            <a:avLst/>
          </a:prstGeom>
          <a:solidFill>
            <a:srgbClr val="1E2029"/>
          </a:solidFill>
          <a:ln w="19050">
            <a:solidFill>
              <a:srgbClr val="5B6BFF"/>
            </a:solidFill>
            <a:prstDash val="solid"/>
          </a:ln>
        </p:spPr>
      </p:sp>
      <p:pic>
        <p:nvPicPr>
          <p:cNvPr id="7" name="Image 0" descr="/tmp/lmx_deck/assets/icon-wallet.png">    </p:cNvPr>
          <p:cNvPicPr>
            <a:picLocks noChangeAspect="1"/>
          </p:cNvPicPr>
          <p:nvPr/>
        </p:nvPicPr>
        <p:blipFill>
          <a:blip r:embed="rId1"/>
          <a:stretch>
            <a:fillRect/>
          </a:stretch>
        </p:blipFill>
        <p:spPr>
          <a:xfrm>
            <a:off x="1827428" y="2708453"/>
            <a:ext cx="362102" cy="362102"/>
          </a:xfrm>
          <a:prstGeom prst="rect">
            <a:avLst/>
          </a:prstGeom>
        </p:spPr>
      </p:pic>
      <p:sp>
        <p:nvSpPr>
          <p:cNvPr id="8" name="Text 5"/>
          <p:cNvSpPr txBox="1"/>
          <p:nvPr/>
        </p:nvSpPr>
        <p:spPr>
          <a:xfrm>
            <a:off x="865480" y="3310128"/>
            <a:ext cx="2286000" cy="365760"/>
          </a:xfrm>
          <a:prstGeom prst="rect">
            <a:avLst/>
          </a:prstGeom>
          <a:noFill/>
          <a:ln/>
        </p:spPr>
        <p:txBody>
          <a:bodyPr wrap="square" lIns="0" tIns="0" rIns="0" bIns="0" rtlCol="0" anchor="ctr"/>
          <a:lstStyle/>
          <a:p>
            <a:pPr algn="ctr" indent="0" marL="0">
              <a:buNone/>
            </a:pPr>
            <a:r>
              <a:rPr lang="en-US" sz="1500" b="1" dirty="0">
                <a:solidFill>
                  <a:srgbClr val="F2F4F8"/>
                </a:solidFill>
                <a:latin typeface="Calibri" pitchFamily="34" charset="0"/>
                <a:ea typeface="Calibri" pitchFamily="34" charset="-122"/>
                <a:cs typeface="Calibri" pitchFamily="34" charset="-120"/>
              </a:rPr>
              <a:t>Wallet</a:t>
            </a:r>
            <a:endParaRPr lang="en-US" sz="1500" dirty="0"/>
          </a:p>
        </p:txBody>
      </p:sp>
      <p:sp>
        <p:nvSpPr>
          <p:cNvPr id="9" name="Text 6"/>
          <p:cNvSpPr txBox="1"/>
          <p:nvPr/>
        </p:nvSpPr>
        <p:spPr>
          <a:xfrm>
            <a:off x="911200" y="3675888"/>
            <a:ext cx="2194560" cy="502920"/>
          </a:xfrm>
          <a:prstGeom prst="rect">
            <a:avLst/>
          </a:prstGeom>
          <a:noFill/>
          <a:ln/>
        </p:spPr>
        <p:txBody>
          <a:bodyPr wrap="square" lIns="0" tIns="0" rIns="0" bIns="0" rtlCol="0" anchor="ctr"/>
          <a:lstStyle/>
          <a:p>
            <a:pPr algn="ctr" indent="0" marL="0">
              <a:lnSpc>
                <a:spcPts val="1300"/>
              </a:lnSpc>
              <a:buNone/>
            </a:pPr>
            <a:r>
              <a:rPr lang="en-US" sz="1100" dirty="0">
                <a:solidFill>
                  <a:srgbClr val="9AA0AE"/>
                </a:solidFill>
                <a:latin typeface="Calibri" pitchFamily="34" charset="0"/>
                <a:ea typeface="Calibri" pitchFamily="34" charset="-122"/>
                <a:cs typeface="Calibri" pitchFamily="34" charset="-120"/>
              </a:rPr>
              <a:t>Identity + x402 settlement</a:t>
            </a:r>
            <a:endParaRPr lang="en-US" sz="1100" dirty="0"/>
          </a:p>
        </p:txBody>
      </p:sp>
      <p:pic>
        <p:nvPicPr>
          <p:cNvPr id="10" name="Image 1" descr="/tmp/lmx_deck/assets/icon-arrow.png">    </p:cNvPr>
          <p:cNvPicPr>
            <a:picLocks noChangeAspect="1"/>
          </p:cNvPicPr>
          <p:nvPr/>
        </p:nvPicPr>
        <p:blipFill>
          <a:blip r:embed="rId2">
            <a:alphaModFix amt="85000"/>
          </a:blip>
          <a:stretch>
            <a:fillRect/>
          </a:stretch>
        </p:blipFill>
        <p:spPr>
          <a:xfrm>
            <a:off x="3252064" y="3150108"/>
            <a:ext cx="237744" cy="237744"/>
          </a:xfrm>
          <a:prstGeom prst="rect">
            <a:avLst/>
          </a:prstGeom>
        </p:spPr>
      </p:pic>
      <p:sp>
        <p:nvSpPr>
          <p:cNvPr id="11" name="Shape 7"/>
          <p:cNvSpPr/>
          <p:nvPr/>
        </p:nvSpPr>
        <p:spPr>
          <a:xfrm>
            <a:off x="3498952" y="2286000"/>
            <a:ext cx="2468880" cy="1965960"/>
          </a:xfrm>
          <a:prstGeom prst="roundRect">
            <a:avLst>
              <a:gd name="adj" fmla="val 4186"/>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12" name="Shape 8"/>
          <p:cNvSpPr/>
          <p:nvPr/>
        </p:nvSpPr>
        <p:spPr>
          <a:xfrm>
            <a:off x="4404208" y="2560320"/>
            <a:ext cx="658368" cy="658368"/>
          </a:xfrm>
          <a:prstGeom prst="ellipse">
            <a:avLst/>
          </a:prstGeom>
          <a:solidFill>
            <a:srgbClr val="1E2029"/>
          </a:solidFill>
          <a:ln w="19050">
            <a:solidFill>
              <a:srgbClr val="5B6BFF"/>
            </a:solidFill>
            <a:prstDash val="solid"/>
          </a:ln>
        </p:spPr>
      </p:sp>
      <p:pic>
        <p:nvPicPr>
          <p:cNvPr id="13" name="Image 2" descr="/tmp/lmx_deck/assets/icon-agent.png">    </p:cNvPr>
          <p:cNvPicPr>
            <a:picLocks noChangeAspect="1"/>
          </p:cNvPicPr>
          <p:nvPr/>
        </p:nvPicPr>
        <p:blipFill>
          <a:blip r:embed="rId3"/>
          <a:stretch>
            <a:fillRect/>
          </a:stretch>
        </p:blipFill>
        <p:spPr>
          <a:xfrm>
            <a:off x="4552340" y="2708453"/>
            <a:ext cx="362102" cy="362102"/>
          </a:xfrm>
          <a:prstGeom prst="rect">
            <a:avLst/>
          </a:prstGeom>
        </p:spPr>
      </p:pic>
      <p:sp>
        <p:nvSpPr>
          <p:cNvPr id="14" name="Text 9"/>
          <p:cNvSpPr txBox="1"/>
          <p:nvPr/>
        </p:nvSpPr>
        <p:spPr>
          <a:xfrm>
            <a:off x="3590392" y="3310128"/>
            <a:ext cx="2286000" cy="365760"/>
          </a:xfrm>
          <a:prstGeom prst="rect">
            <a:avLst/>
          </a:prstGeom>
          <a:noFill/>
          <a:ln/>
        </p:spPr>
        <p:txBody>
          <a:bodyPr wrap="square" lIns="0" tIns="0" rIns="0" bIns="0" rtlCol="0" anchor="ctr"/>
          <a:lstStyle/>
          <a:p>
            <a:pPr algn="ctr" indent="0" marL="0">
              <a:buNone/>
            </a:pPr>
            <a:r>
              <a:rPr lang="en-US" sz="1500" b="1" dirty="0">
                <a:solidFill>
                  <a:srgbClr val="F2F4F8"/>
                </a:solidFill>
                <a:latin typeface="Calibri" pitchFamily="34" charset="0"/>
                <a:ea typeface="Calibri" pitchFamily="34" charset="-122"/>
                <a:cs typeface="Calibri" pitchFamily="34" charset="-120"/>
              </a:rPr>
              <a:t>Agent</a:t>
            </a:r>
            <a:endParaRPr lang="en-US" sz="1500" dirty="0"/>
          </a:p>
        </p:txBody>
      </p:sp>
      <p:sp>
        <p:nvSpPr>
          <p:cNvPr id="15" name="Text 10"/>
          <p:cNvSpPr txBox="1"/>
          <p:nvPr/>
        </p:nvSpPr>
        <p:spPr>
          <a:xfrm>
            <a:off x="3636112" y="3675888"/>
            <a:ext cx="2194560" cy="502920"/>
          </a:xfrm>
          <a:prstGeom prst="rect">
            <a:avLst/>
          </a:prstGeom>
          <a:noFill/>
          <a:ln/>
        </p:spPr>
        <p:txBody>
          <a:bodyPr wrap="square" lIns="0" tIns="0" rIns="0" bIns="0" rtlCol="0" anchor="ctr"/>
          <a:lstStyle/>
          <a:p>
            <a:pPr algn="ctr" indent="0" marL="0">
              <a:lnSpc>
                <a:spcPts val="1300"/>
              </a:lnSpc>
              <a:buNone/>
            </a:pPr>
            <a:r>
              <a:rPr lang="en-US" sz="1100" dirty="0">
                <a:solidFill>
                  <a:srgbClr val="9AA0AE"/>
                </a:solidFill>
                <a:latin typeface="Calibri" pitchFamily="34" charset="0"/>
                <a:ea typeface="Calibri" pitchFamily="34" charset="-122"/>
                <a:cs typeface="Calibri" pitchFamily="34" charset="-120"/>
              </a:rPr>
              <a:t>input → tools → inference → persist</a:t>
            </a:r>
            <a:endParaRPr lang="en-US" sz="1100" dirty="0"/>
          </a:p>
        </p:txBody>
      </p:sp>
      <p:pic>
        <p:nvPicPr>
          <p:cNvPr id="16" name="Image 3" descr="/tmp/lmx_deck/assets/icon-arrow.png">    </p:cNvPr>
          <p:cNvPicPr>
            <a:picLocks noChangeAspect="1"/>
          </p:cNvPicPr>
          <p:nvPr/>
        </p:nvPicPr>
        <p:blipFill>
          <a:blip r:embed="rId4">
            <a:alphaModFix amt="85000"/>
          </a:blip>
          <a:stretch>
            <a:fillRect/>
          </a:stretch>
        </p:blipFill>
        <p:spPr>
          <a:xfrm>
            <a:off x="5976976" y="3150108"/>
            <a:ext cx="237744" cy="237744"/>
          </a:xfrm>
          <a:prstGeom prst="rect">
            <a:avLst/>
          </a:prstGeom>
        </p:spPr>
      </p:pic>
      <p:sp>
        <p:nvSpPr>
          <p:cNvPr id="17" name="Shape 11"/>
          <p:cNvSpPr/>
          <p:nvPr/>
        </p:nvSpPr>
        <p:spPr>
          <a:xfrm>
            <a:off x="6223864" y="2286000"/>
            <a:ext cx="2468880" cy="1965960"/>
          </a:xfrm>
          <a:prstGeom prst="roundRect">
            <a:avLst>
              <a:gd name="adj" fmla="val 4186"/>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18" name="Shape 12"/>
          <p:cNvSpPr/>
          <p:nvPr/>
        </p:nvSpPr>
        <p:spPr>
          <a:xfrm>
            <a:off x="7129120" y="2560320"/>
            <a:ext cx="658368" cy="658368"/>
          </a:xfrm>
          <a:prstGeom prst="ellipse">
            <a:avLst/>
          </a:prstGeom>
          <a:solidFill>
            <a:srgbClr val="1E2029"/>
          </a:solidFill>
          <a:ln w="19050">
            <a:solidFill>
              <a:srgbClr val="5B6BFF"/>
            </a:solidFill>
            <a:prstDash val="solid"/>
          </a:ln>
        </p:spPr>
      </p:sp>
      <p:pic>
        <p:nvPicPr>
          <p:cNvPr id="19" name="Image 4" descr="/tmp/lmx_deck/assets/icon-vault.png">    </p:cNvPr>
          <p:cNvPicPr>
            <a:picLocks noChangeAspect="1"/>
          </p:cNvPicPr>
          <p:nvPr/>
        </p:nvPicPr>
        <p:blipFill>
          <a:blip r:embed="rId5"/>
          <a:stretch>
            <a:fillRect/>
          </a:stretch>
        </p:blipFill>
        <p:spPr>
          <a:xfrm>
            <a:off x="7277252" y="2708453"/>
            <a:ext cx="362102" cy="362102"/>
          </a:xfrm>
          <a:prstGeom prst="rect">
            <a:avLst/>
          </a:prstGeom>
        </p:spPr>
      </p:pic>
      <p:sp>
        <p:nvSpPr>
          <p:cNvPr id="20" name="Text 13"/>
          <p:cNvSpPr txBox="1"/>
          <p:nvPr/>
        </p:nvSpPr>
        <p:spPr>
          <a:xfrm>
            <a:off x="6315304" y="3310128"/>
            <a:ext cx="2286000" cy="365760"/>
          </a:xfrm>
          <a:prstGeom prst="rect">
            <a:avLst/>
          </a:prstGeom>
          <a:noFill/>
          <a:ln/>
        </p:spPr>
        <p:txBody>
          <a:bodyPr wrap="square" lIns="0" tIns="0" rIns="0" bIns="0" rtlCol="0" anchor="ctr"/>
          <a:lstStyle/>
          <a:p>
            <a:pPr algn="ctr" indent="0" marL="0">
              <a:buNone/>
            </a:pPr>
            <a:r>
              <a:rPr lang="en-US" sz="1500" b="1" dirty="0">
                <a:solidFill>
                  <a:srgbClr val="F2F4F8"/>
                </a:solidFill>
                <a:latin typeface="Calibri" pitchFamily="34" charset="0"/>
                <a:ea typeface="Calibri" pitchFamily="34" charset="-122"/>
                <a:cs typeface="Calibri" pitchFamily="34" charset="-120"/>
              </a:rPr>
              <a:t>Vault</a:t>
            </a:r>
            <a:endParaRPr lang="en-US" sz="1500" dirty="0"/>
          </a:p>
        </p:txBody>
      </p:sp>
      <p:sp>
        <p:nvSpPr>
          <p:cNvPr id="21" name="Text 14"/>
          <p:cNvSpPr txBox="1"/>
          <p:nvPr/>
        </p:nvSpPr>
        <p:spPr>
          <a:xfrm>
            <a:off x="6361024" y="3675888"/>
            <a:ext cx="2194560" cy="502920"/>
          </a:xfrm>
          <a:prstGeom prst="rect">
            <a:avLst/>
          </a:prstGeom>
          <a:noFill/>
          <a:ln/>
        </p:spPr>
        <p:txBody>
          <a:bodyPr wrap="square" lIns="0" tIns="0" rIns="0" bIns="0" rtlCol="0" anchor="ctr"/>
          <a:lstStyle/>
          <a:p>
            <a:pPr algn="ctr" indent="0" marL="0">
              <a:lnSpc>
                <a:spcPts val="1300"/>
              </a:lnSpc>
              <a:buNone/>
            </a:pPr>
            <a:r>
              <a:rPr lang="en-US" sz="1100" dirty="0">
                <a:solidFill>
                  <a:srgbClr val="9AA0AE"/>
                </a:solidFill>
                <a:latin typeface="Calibri" pitchFamily="34" charset="0"/>
                <a:ea typeface="Calibri" pitchFamily="34" charset="-122"/>
                <a:cs typeface="Calibri" pitchFamily="34" charset="-120"/>
              </a:rPr>
              <a:t>Owned, federated memory</a:t>
            </a:r>
            <a:endParaRPr lang="en-US" sz="1100" dirty="0"/>
          </a:p>
        </p:txBody>
      </p:sp>
      <p:pic>
        <p:nvPicPr>
          <p:cNvPr id="22" name="Image 5" descr="/tmp/lmx_deck/assets/icon-arrow.png">    </p:cNvPr>
          <p:cNvPicPr>
            <a:picLocks noChangeAspect="1"/>
          </p:cNvPicPr>
          <p:nvPr/>
        </p:nvPicPr>
        <p:blipFill>
          <a:blip r:embed="rId6">
            <a:alphaModFix amt="85000"/>
          </a:blip>
          <a:stretch>
            <a:fillRect/>
          </a:stretch>
        </p:blipFill>
        <p:spPr>
          <a:xfrm>
            <a:off x="8701888" y="3150108"/>
            <a:ext cx="237744" cy="237744"/>
          </a:xfrm>
          <a:prstGeom prst="rect">
            <a:avLst/>
          </a:prstGeom>
        </p:spPr>
      </p:pic>
      <p:sp>
        <p:nvSpPr>
          <p:cNvPr id="23" name="Shape 15"/>
          <p:cNvSpPr/>
          <p:nvPr/>
        </p:nvSpPr>
        <p:spPr>
          <a:xfrm>
            <a:off x="8948776" y="2286000"/>
            <a:ext cx="2468880" cy="1965960"/>
          </a:xfrm>
          <a:prstGeom prst="roundRect">
            <a:avLst>
              <a:gd name="adj" fmla="val 4186"/>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24" name="Shape 16"/>
          <p:cNvSpPr/>
          <p:nvPr/>
        </p:nvSpPr>
        <p:spPr>
          <a:xfrm>
            <a:off x="9854032" y="2560320"/>
            <a:ext cx="658368" cy="658368"/>
          </a:xfrm>
          <a:prstGeom prst="ellipse">
            <a:avLst/>
          </a:prstGeom>
          <a:solidFill>
            <a:srgbClr val="1E2029"/>
          </a:solidFill>
          <a:ln w="19050">
            <a:solidFill>
              <a:srgbClr val="5B6BFF"/>
            </a:solidFill>
            <a:prstDash val="solid"/>
          </a:ln>
        </p:spPr>
      </p:sp>
      <p:pic>
        <p:nvPicPr>
          <p:cNvPr id="25" name="Image 6" descr="/tmp/lmx_deck/assets/icon-router.png">    </p:cNvPr>
          <p:cNvPicPr>
            <a:picLocks noChangeAspect="1"/>
          </p:cNvPicPr>
          <p:nvPr/>
        </p:nvPicPr>
        <p:blipFill>
          <a:blip r:embed="rId7"/>
          <a:stretch>
            <a:fillRect/>
          </a:stretch>
        </p:blipFill>
        <p:spPr>
          <a:xfrm>
            <a:off x="10002164" y="2708453"/>
            <a:ext cx="362102" cy="362102"/>
          </a:xfrm>
          <a:prstGeom prst="rect">
            <a:avLst/>
          </a:prstGeom>
        </p:spPr>
      </p:pic>
      <p:sp>
        <p:nvSpPr>
          <p:cNvPr id="26" name="Text 17"/>
          <p:cNvSpPr txBox="1"/>
          <p:nvPr/>
        </p:nvSpPr>
        <p:spPr>
          <a:xfrm>
            <a:off x="9040216" y="3310128"/>
            <a:ext cx="2286000" cy="365760"/>
          </a:xfrm>
          <a:prstGeom prst="rect">
            <a:avLst/>
          </a:prstGeom>
          <a:noFill/>
          <a:ln/>
        </p:spPr>
        <p:txBody>
          <a:bodyPr wrap="square" lIns="0" tIns="0" rIns="0" bIns="0" rtlCol="0" anchor="ctr"/>
          <a:lstStyle/>
          <a:p>
            <a:pPr algn="ctr" indent="0" marL="0">
              <a:buNone/>
            </a:pPr>
            <a:r>
              <a:rPr lang="en-US" sz="1500" b="1" dirty="0">
                <a:solidFill>
                  <a:srgbClr val="F2F4F8"/>
                </a:solidFill>
                <a:latin typeface="Calibri" pitchFamily="34" charset="0"/>
                <a:ea typeface="Calibri" pitchFamily="34" charset="-122"/>
                <a:cs typeface="Calibri" pitchFamily="34" charset="-120"/>
              </a:rPr>
              <a:t>Inference Router</a:t>
            </a:r>
            <a:endParaRPr lang="en-US" sz="1500" dirty="0"/>
          </a:p>
        </p:txBody>
      </p:sp>
      <p:sp>
        <p:nvSpPr>
          <p:cNvPr id="27" name="Text 18"/>
          <p:cNvSpPr txBox="1"/>
          <p:nvPr/>
        </p:nvSpPr>
        <p:spPr>
          <a:xfrm>
            <a:off x="9085936" y="3675888"/>
            <a:ext cx="2194560" cy="502920"/>
          </a:xfrm>
          <a:prstGeom prst="rect">
            <a:avLst/>
          </a:prstGeom>
          <a:noFill/>
          <a:ln/>
        </p:spPr>
        <p:txBody>
          <a:bodyPr wrap="square" lIns="0" tIns="0" rIns="0" bIns="0" rtlCol="0" anchor="ctr"/>
          <a:lstStyle/>
          <a:p>
            <a:pPr algn="ctr" indent="0" marL="0">
              <a:lnSpc>
                <a:spcPts val="1300"/>
              </a:lnSpc>
              <a:buNone/>
            </a:pPr>
            <a:r>
              <a:rPr lang="en-US" sz="1100" dirty="0">
                <a:solidFill>
                  <a:srgbClr val="9AA0AE"/>
                </a:solidFill>
                <a:latin typeface="Calibri" pitchFamily="34" charset="0"/>
                <a:ea typeface="Calibri" pitchFamily="34" charset="-122"/>
                <a:cs typeface="Calibri" pitchFamily="34" charset="-120"/>
              </a:rPr>
              <a:t>Multi-provider reasoning calls</a:t>
            </a:r>
            <a:endParaRPr lang="en-US" sz="1100" dirty="0"/>
          </a:p>
        </p:txBody>
      </p:sp>
      <p:sp>
        <p:nvSpPr>
          <p:cNvPr id="28" name="Shape 19"/>
          <p:cNvSpPr/>
          <p:nvPr/>
        </p:nvSpPr>
        <p:spPr>
          <a:xfrm>
            <a:off x="774040" y="4663440"/>
            <a:ext cx="10643616" cy="1051560"/>
          </a:xfrm>
          <a:prstGeom prst="roundRect">
            <a:avLst>
              <a:gd name="adj" fmla="val 7826"/>
            </a:avLst>
          </a:prstGeom>
          <a:solidFill>
            <a:srgbClr val="1E2029"/>
          </a:solidFill>
          <a:ln w="12700">
            <a:solidFill>
              <a:srgbClr val="5B6BFF"/>
            </a:solidFill>
            <a:prstDash val="solid"/>
          </a:ln>
          <a:effectLst>
            <a:outerShdw sx="100000" sy="100000" kx="0" ky="0" algn="bl" rotWithShape="0" blurRad="127000" dist="38100" dir="5400000">
              <a:srgbClr val="000000">
                <a:alpha val="35000"/>
              </a:srgbClr>
            </a:outerShdw>
          </a:effectLst>
        </p:spPr>
      </p:sp>
      <p:sp>
        <p:nvSpPr>
          <p:cNvPr id="29" name="Shape 20"/>
          <p:cNvSpPr/>
          <p:nvPr/>
        </p:nvSpPr>
        <p:spPr>
          <a:xfrm>
            <a:off x="1030072" y="4882896"/>
            <a:ext cx="621792" cy="621792"/>
          </a:xfrm>
          <a:prstGeom prst="ellipse">
            <a:avLst/>
          </a:prstGeom>
          <a:solidFill>
            <a:srgbClr val="1E2029"/>
          </a:solidFill>
          <a:ln w="19050">
            <a:solidFill>
              <a:srgbClr val="3DD7E5"/>
            </a:solidFill>
            <a:prstDash val="solid"/>
          </a:ln>
        </p:spPr>
      </p:sp>
      <p:pic>
        <p:nvPicPr>
          <p:cNvPr id="30" name="Image 7" descr="/tmp/lmx_deck/assets/icon-grid.png">    </p:cNvPr>
          <p:cNvPicPr>
            <a:picLocks noChangeAspect="1"/>
          </p:cNvPicPr>
          <p:nvPr/>
        </p:nvPicPr>
        <p:blipFill>
          <a:blip r:embed="rId8"/>
          <a:stretch>
            <a:fillRect/>
          </a:stretch>
        </p:blipFill>
        <p:spPr>
          <a:xfrm>
            <a:off x="1169975" y="5022799"/>
            <a:ext cx="341986" cy="341986"/>
          </a:xfrm>
          <a:prstGeom prst="rect">
            <a:avLst/>
          </a:prstGeom>
        </p:spPr>
      </p:pic>
      <p:sp>
        <p:nvSpPr>
          <p:cNvPr id="31" name="Text 21"/>
          <p:cNvSpPr txBox="1"/>
          <p:nvPr/>
        </p:nvSpPr>
        <p:spPr>
          <a:xfrm>
            <a:off x="1825600" y="4828032"/>
            <a:ext cx="2011680" cy="365760"/>
          </a:xfrm>
          <a:prstGeom prst="rect">
            <a:avLst/>
          </a:prstGeom>
          <a:noFill/>
          <a:ln/>
        </p:spPr>
        <p:txBody>
          <a:bodyPr wrap="square" lIns="0" tIns="0" rIns="0" bIns="0" rtlCol="0" anchor="ctr"/>
          <a:lstStyle/>
          <a:p>
            <a:pPr indent="0" marL="0">
              <a:buNone/>
            </a:pPr>
            <a:r>
              <a:rPr lang="en-US" sz="1600" b="1" dirty="0">
                <a:solidFill>
                  <a:srgbClr val="3DD7E5"/>
                </a:solidFill>
                <a:latin typeface="Calibri" pitchFamily="34" charset="0"/>
                <a:ea typeface="Calibri" pitchFamily="34" charset="-122"/>
                <a:cs typeface="Calibri" pitchFamily="34" charset="-120"/>
              </a:rPr>
              <a:t>Grid</a:t>
            </a:r>
            <a:endParaRPr lang="en-US" sz="1600" dirty="0"/>
          </a:p>
        </p:txBody>
      </p:sp>
      <p:sp>
        <p:nvSpPr>
          <p:cNvPr id="32" name="Text 22"/>
          <p:cNvSpPr txBox="1"/>
          <p:nvPr/>
        </p:nvSpPr>
        <p:spPr>
          <a:xfrm>
            <a:off x="1825600" y="5212080"/>
            <a:ext cx="9363456" cy="457200"/>
          </a:xfrm>
          <a:prstGeom prst="rect">
            <a:avLst/>
          </a:prstGeom>
          <a:noFill/>
          <a:ln/>
        </p:spPr>
        <p:txBody>
          <a:bodyPr wrap="square" lIns="0" tIns="0" rIns="0" bIns="0" rtlCol="0" anchor="ctr"/>
          <a:lstStyle/>
          <a:p>
            <a:pPr indent="0" marL="0">
              <a:lnSpc>
                <a:spcPts val="1400"/>
              </a:lnSpc>
              <a:buNone/>
            </a:pPr>
            <a:r>
              <a:rPr lang="en-US" sz="1200" dirty="0">
                <a:solidFill>
                  <a:srgbClr val="9AA0AE"/>
                </a:solidFill>
                <a:latin typeface="Calibri" pitchFamily="34" charset="0"/>
                <a:ea typeface="Calibri" pitchFamily="34" charset="-122"/>
                <a:cs typeface="Calibri" pitchFamily="34" charset="-120"/>
              </a:rPr>
              <a:t>Meters and settles every call above, mints Merkle-anchored receipts, and gates cross-agent Vault reads. The proof layer every other primitive relies on.</a:t>
            </a:r>
            <a:endParaRPr lang="en-US" sz="1200" dirty="0"/>
          </a:p>
        </p:txBody>
      </p:sp>
      <p:sp>
        <p:nvSpPr>
          <p:cNvPr id="33" name="Text 23"/>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09</a:t>
            </a:r>
            <a:endParaRPr lang="en-US" sz="1100" dirty="0"/>
          </a:p>
        </p:txBody>
      </p:sp>
      <p:pic>
        <p:nvPicPr>
          <p:cNvPr id="34" name="Image 8" descr="/tmp/lmx_deck/assets/logo-icon.png">    </p:cNvPr>
          <p:cNvPicPr>
            <a:picLocks noChangeAspect="1"/>
          </p:cNvPicPr>
          <p:nvPr/>
        </p:nvPicPr>
        <p:blipFill>
          <a:blip r:embed="rId9">
            <a:alphaModFix amt="45000"/>
          </a:blip>
          <a:stretch>
            <a:fillRect/>
          </a:stretch>
        </p:blipFill>
        <p:spPr>
          <a:xfrm>
            <a:off x="11624767" y="6327648"/>
            <a:ext cx="292608" cy="2926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algn="l" indent="0" marL="0">
              <a:buNone/>
            </a:pPr>
            <a:r>
              <a:rPr lang="en-US" sz="1300" b="1" spc="200" kern="0" dirty="0">
                <a:solidFill>
                  <a:srgbClr val="3DD7E5"/>
                </a:solidFill>
                <a:latin typeface="Calibri" pitchFamily="34" charset="0"/>
                <a:ea typeface="Calibri" pitchFamily="34" charset="-122"/>
                <a:cs typeface="Calibri" pitchFamily="34" charset="-120"/>
              </a:rPr>
              <a:t>WHY THIS MATTERS NOW</a:t>
            </a:r>
            <a:endParaRPr lang="en-US" sz="1300" dirty="0"/>
          </a:p>
        </p:txBody>
      </p:sp>
      <p:sp>
        <p:nvSpPr>
          <p:cNvPr id="3" name="Text 1"/>
          <p:cNvSpPr txBox="1"/>
          <p:nvPr/>
        </p:nvSpPr>
        <p:spPr>
          <a:xfrm>
            <a:off x="640080" y="777240"/>
            <a:ext cx="9601200" cy="914400"/>
          </a:xfrm>
          <a:prstGeom prst="rect">
            <a:avLst/>
          </a:prstGeom>
          <a:noFill/>
          <a:ln/>
        </p:spPr>
        <p:txBody>
          <a:bodyPr wrap="square" lIns="0" tIns="0" rIns="0" bIns="0" rtlCol="0" anchor="ctr"/>
          <a:lstStyle/>
          <a:p>
            <a:pPr algn="l" indent="0" marL="0">
              <a:lnSpc>
                <a:spcPts val="3600"/>
              </a:lnSpc>
              <a:buNone/>
            </a:pPr>
            <a:r>
              <a:rPr lang="en-US" sz="3400" b="1" dirty="0">
                <a:solidFill>
                  <a:srgbClr val="F2F4F8"/>
                </a:solidFill>
                <a:latin typeface="Calibri" pitchFamily="34" charset="0"/>
                <a:ea typeface="Calibri" pitchFamily="34" charset="-122"/>
                <a:cs typeface="Calibri" pitchFamily="34" charset="-120"/>
              </a:rPr>
              <a:t>Software agents are becoming economic actors</a:t>
            </a:r>
            <a:endParaRPr lang="en-US" sz="3400" dirty="0"/>
          </a:p>
        </p:txBody>
      </p:sp>
      <p:sp>
        <p:nvSpPr>
          <p:cNvPr id="4" name="Text 2"/>
          <p:cNvSpPr txBox="1"/>
          <p:nvPr/>
        </p:nvSpPr>
        <p:spPr>
          <a:xfrm>
            <a:off x="640080" y="1508760"/>
            <a:ext cx="10515600" cy="457200"/>
          </a:xfrm>
          <a:prstGeom prst="rect">
            <a:avLst/>
          </a:prstGeom>
          <a:noFill/>
          <a:ln/>
        </p:spPr>
        <p:txBody>
          <a:bodyPr wrap="square" lIns="0" tIns="0" rIns="0" bIns="0" rtlCol="0" anchor="ctr"/>
          <a:lstStyle/>
          <a:p>
            <a:pPr indent="0" marL="0">
              <a:buNone/>
            </a:pPr>
            <a:r>
              <a:rPr lang="en-US" sz="1400" dirty="0">
                <a:solidFill>
                  <a:srgbClr val="9AA0AE"/>
                </a:solidFill>
                <a:latin typeface="Calibri" pitchFamily="34" charset="0"/>
                <a:ea typeface="Calibri" pitchFamily="34" charset="-122"/>
                <a:cs typeface="Calibri" pitchFamily="34" charset="-120"/>
              </a:rPr>
              <a:t>An agent that reasons, remembers, and transacts needs infrastructure a human-run platform was never built for.</a:t>
            </a:r>
            <a:endParaRPr lang="en-US" sz="1400" dirty="0"/>
          </a:p>
        </p:txBody>
      </p:sp>
      <p:sp>
        <p:nvSpPr>
          <p:cNvPr id="5" name="Shape 3"/>
          <p:cNvSpPr/>
          <p:nvPr/>
        </p:nvSpPr>
        <p:spPr>
          <a:xfrm>
            <a:off x="685800" y="2331720"/>
            <a:ext cx="566928" cy="566928"/>
          </a:xfrm>
          <a:prstGeom prst="ellipse">
            <a:avLst/>
          </a:prstGeom>
          <a:solidFill>
            <a:srgbClr val="1E2029"/>
          </a:solidFill>
          <a:ln w="19050">
            <a:solidFill>
              <a:srgbClr val="5B6BFF"/>
            </a:solidFill>
            <a:prstDash val="solid"/>
          </a:ln>
        </p:spPr>
      </p:sp>
      <p:pic>
        <p:nvPicPr>
          <p:cNvPr id="6" name="Image 0" descr="/tmp/lmx_deck/assets/icon-users.png">    </p:cNvPr>
          <p:cNvPicPr>
            <a:picLocks noChangeAspect="1"/>
          </p:cNvPicPr>
          <p:nvPr/>
        </p:nvPicPr>
        <p:blipFill>
          <a:blip r:embed="rId1"/>
          <a:stretch>
            <a:fillRect/>
          </a:stretch>
        </p:blipFill>
        <p:spPr>
          <a:xfrm>
            <a:off x="813359" y="2459279"/>
            <a:ext cx="311810" cy="311810"/>
          </a:xfrm>
          <a:prstGeom prst="rect">
            <a:avLst/>
          </a:prstGeom>
        </p:spPr>
      </p:pic>
      <p:sp>
        <p:nvSpPr>
          <p:cNvPr id="7" name="Text 4"/>
          <p:cNvSpPr txBox="1"/>
          <p:nvPr/>
        </p:nvSpPr>
        <p:spPr>
          <a:xfrm>
            <a:off x="1463040" y="2286000"/>
            <a:ext cx="4572000" cy="685800"/>
          </a:xfrm>
          <a:prstGeom prst="rect">
            <a:avLst/>
          </a:prstGeom>
          <a:noFill/>
          <a:ln/>
        </p:spPr>
        <p:txBody>
          <a:bodyPr wrap="square" lIns="0" tIns="0" rIns="0" bIns="0" rtlCol="0" anchor="ctr"/>
          <a:lstStyle/>
          <a:p>
            <a:pPr indent="0" marL="0">
              <a:lnSpc>
                <a:spcPts val="1700"/>
              </a:lnSpc>
              <a:buNone/>
            </a:pPr>
            <a:r>
              <a:rPr lang="en-US" sz="1450" b="1" dirty="0">
                <a:solidFill>
                  <a:srgbClr val="F2F4F8"/>
                </a:solidFill>
                <a:latin typeface="Calibri" pitchFamily="34" charset="0"/>
                <a:ea typeface="Calibri" pitchFamily="34" charset="-122"/>
                <a:cs typeface="Calibri" pitchFamily="34" charset="-120"/>
              </a:rPr>
              <a:t>Agents need to pay each other</a:t>
            </a:r>
            <a:endParaRPr lang="en-US" sz="1450" dirty="0"/>
          </a:p>
        </p:txBody>
      </p:sp>
      <p:sp>
        <p:nvSpPr>
          <p:cNvPr id="8" name="Text 5"/>
          <p:cNvSpPr txBox="1"/>
          <p:nvPr/>
        </p:nvSpPr>
        <p:spPr>
          <a:xfrm>
            <a:off x="6172200" y="2286000"/>
            <a:ext cx="5394960" cy="685800"/>
          </a:xfrm>
          <a:prstGeom prst="rect">
            <a:avLst/>
          </a:prstGeom>
          <a:noFill/>
          <a:ln/>
        </p:spPr>
        <p:txBody>
          <a:bodyPr wrap="square" lIns="0" tIns="0" rIns="0" bIns="0" rtlCol="0" anchor="ctr"/>
          <a:lstStyle/>
          <a:p>
            <a:pPr indent="0" marL="0">
              <a:lnSpc>
                <a:spcPts val="1500"/>
              </a:lnSpc>
              <a:buNone/>
            </a:pPr>
            <a:r>
              <a:rPr lang="en-US" sz="1250" dirty="0">
                <a:solidFill>
                  <a:srgbClr val="9AA0AE"/>
                </a:solidFill>
                <a:latin typeface="Calibri" pitchFamily="34" charset="0"/>
                <a:ea typeface="Calibri" pitchFamily="34" charset="-122"/>
                <a:cs typeface="Calibri" pitchFamily="34" charset="-120"/>
              </a:rPr>
              <a:t>without a human approving every transaction — solved by programmable, wallet-native money</a:t>
            </a:r>
            <a:endParaRPr lang="en-US" sz="1250" dirty="0"/>
          </a:p>
        </p:txBody>
      </p:sp>
      <p:sp>
        <p:nvSpPr>
          <p:cNvPr id="9" name="Shape 6"/>
          <p:cNvSpPr/>
          <p:nvPr/>
        </p:nvSpPr>
        <p:spPr>
          <a:xfrm>
            <a:off x="685800" y="3291840"/>
            <a:ext cx="566928" cy="566928"/>
          </a:xfrm>
          <a:prstGeom prst="ellipse">
            <a:avLst/>
          </a:prstGeom>
          <a:solidFill>
            <a:srgbClr val="1E2029"/>
          </a:solidFill>
          <a:ln w="19050">
            <a:solidFill>
              <a:srgbClr val="5B6BFF"/>
            </a:solidFill>
            <a:prstDash val="solid"/>
          </a:ln>
        </p:spPr>
      </p:sp>
      <p:pic>
        <p:nvPicPr>
          <p:cNvPr id="10" name="Image 1" descr="/tmp/lmx_deck/assets/icon-check.png">    </p:cNvPr>
          <p:cNvPicPr>
            <a:picLocks noChangeAspect="1"/>
          </p:cNvPicPr>
          <p:nvPr/>
        </p:nvPicPr>
        <p:blipFill>
          <a:blip r:embed="rId2"/>
          <a:stretch>
            <a:fillRect/>
          </a:stretch>
        </p:blipFill>
        <p:spPr>
          <a:xfrm>
            <a:off x="813359" y="3419399"/>
            <a:ext cx="311810" cy="311810"/>
          </a:xfrm>
          <a:prstGeom prst="rect">
            <a:avLst/>
          </a:prstGeom>
        </p:spPr>
      </p:pic>
      <p:sp>
        <p:nvSpPr>
          <p:cNvPr id="11" name="Text 7"/>
          <p:cNvSpPr txBox="1"/>
          <p:nvPr/>
        </p:nvSpPr>
        <p:spPr>
          <a:xfrm>
            <a:off x="1463040" y="3246120"/>
            <a:ext cx="4572000" cy="685800"/>
          </a:xfrm>
          <a:prstGeom prst="rect">
            <a:avLst/>
          </a:prstGeom>
          <a:noFill/>
          <a:ln/>
        </p:spPr>
        <p:txBody>
          <a:bodyPr wrap="square" lIns="0" tIns="0" rIns="0" bIns="0" rtlCol="0" anchor="ctr"/>
          <a:lstStyle/>
          <a:p>
            <a:pPr indent="0" marL="0">
              <a:lnSpc>
                <a:spcPts val="1700"/>
              </a:lnSpc>
              <a:buNone/>
            </a:pPr>
            <a:r>
              <a:rPr lang="en-US" sz="1450" b="1" dirty="0">
                <a:solidFill>
                  <a:srgbClr val="F2F4F8"/>
                </a:solidFill>
                <a:latin typeface="Calibri" pitchFamily="34" charset="0"/>
                <a:ea typeface="Calibri" pitchFamily="34" charset="-122"/>
                <a:cs typeface="Calibri" pitchFamily="34" charset="-120"/>
              </a:rPr>
              <a:t>Agents need to verify each other’s work</a:t>
            </a:r>
            <a:endParaRPr lang="en-US" sz="1450" dirty="0"/>
          </a:p>
        </p:txBody>
      </p:sp>
      <p:sp>
        <p:nvSpPr>
          <p:cNvPr id="12" name="Text 8"/>
          <p:cNvSpPr txBox="1"/>
          <p:nvPr/>
        </p:nvSpPr>
        <p:spPr>
          <a:xfrm>
            <a:off x="6172200" y="3246120"/>
            <a:ext cx="5394960" cy="685800"/>
          </a:xfrm>
          <a:prstGeom prst="rect">
            <a:avLst/>
          </a:prstGeom>
          <a:noFill/>
          <a:ln/>
        </p:spPr>
        <p:txBody>
          <a:bodyPr wrap="square" lIns="0" tIns="0" rIns="0" bIns="0" rtlCol="0" anchor="ctr"/>
          <a:lstStyle/>
          <a:p>
            <a:pPr indent="0" marL="0">
              <a:lnSpc>
                <a:spcPts val="1500"/>
              </a:lnSpc>
              <a:buNone/>
            </a:pPr>
            <a:r>
              <a:rPr lang="en-US" sz="1250" dirty="0">
                <a:solidFill>
                  <a:srgbClr val="9AA0AE"/>
                </a:solidFill>
                <a:latin typeface="Calibri" pitchFamily="34" charset="0"/>
                <a:ea typeface="Calibri" pitchFamily="34" charset="-122"/>
                <a:cs typeface="Calibri" pitchFamily="34" charset="-120"/>
              </a:rPr>
              <a:t>without a shared employer to arbitrate disputes — solved by cryptographic receipts</a:t>
            </a:r>
            <a:endParaRPr lang="en-US" sz="1250" dirty="0"/>
          </a:p>
        </p:txBody>
      </p:sp>
      <p:sp>
        <p:nvSpPr>
          <p:cNvPr id="13" name="Shape 9"/>
          <p:cNvSpPr/>
          <p:nvPr/>
        </p:nvSpPr>
        <p:spPr>
          <a:xfrm>
            <a:off x="685800" y="4251960"/>
            <a:ext cx="566928" cy="566928"/>
          </a:xfrm>
          <a:prstGeom prst="ellipse">
            <a:avLst/>
          </a:prstGeom>
          <a:solidFill>
            <a:srgbClr val="1E2029"/>
          </a:solidFill>
          <a:ln w="19050">
            <a:solidFill>
              <a:srgbClr val="5B6BFF"/>
            </a:solidFill>
            <a:prstDash val="solid"/>
          </a:ln>
        </p:spPr>
      </p:sp>
      <p:pic>
        <p:nvPicPr>
          <p:cNvPr id="14" name="Image 2" descr="/tmp/lmx_deck/assets/icon-vault.png">    </p:cNvPr>
          <p:cNvPicPr>
            <a:picLocks noChangeAspect="1"/>
          </p:cNvPicPr>
          <p:nvPr/>
        </p:nvPicPr>
        <p:blipFill>
          <a:blip r:embed="rId3"/>
          <a:stretch>
            <a:fillRect/>
          </a:stretch>
        </p:blipFill>
        <p:spPr>
          <a:xfrm>
            <a:off x="813359" y="4379519"/>
            <a:ext cx="311810" cy="311810"/>
          </a:xfrm>
          <a:prstGeom prst="rect">
            <a:avLst/>
          </a:prstGeom>
        </p:spPr>
      </p:pic>
      <p:sp>
        <p:nvSpPr>
          <p:cNvPr id="15" name="Text 10"/>
          <p:cNvSpPr txBox="1"/>
          <p:nvPr/>
        </p:nvSpPr>
        <p:spPr>
          <a:xfrm>
            <a:off x="1463040" y="4206240"/>
            <a:ext cx="4572000" cy="685800"/>
          </a:xfrm>
          <a:prstGeom prst="rect">
            <a:avLst/>
          </a:prstGeom>
          <a:noFill/>
          <a:ln/>
        </p:spPr>
        <p:txBody>
          <a:bodyPr wrap="square" lIns="0" tIns="0" rIns="0" bIns="0" rtlCol="0" anchor="ctr"/>
          <a:lstStyle/>
          <a:p>
            <a:pPr indent="0" marL="0">
              <a:lnSpc>
                <a:spcPts val="1700"/>
              </a:lnSpc>
              <a:buNone/>
            </a:pPr>
            <a:r>
              <a:rPr lang="en-US" sz="1450" b="1" dirty="0">
                <a:solidFill>
                  <a:srgbClr val="F2F4F8"/>
                </a:solidFill>
                <a:latin typeface="Calibri" pitchFamily="34" charset="0"/>
                <a:ea typeface="Calibri" pitchFamily="34" charset="-122"/>
                <a:cs typeface="Calibri" pitchFamily="34" charset="-120"/>
              </a:rPr>
              <a:t>Agents need to own their own memory</a:t>
            </a:r>
            <a:endParaRPr lang="en-US" sz="1450" dirty="0"/>
          </a:p>
        </p:txBody>
      </p:sp>
      <p:sp>
        <p:nvSpPr>
          <p:cNvPr id="16" name="Text 11"/>
          <p:cNvSpPr txBox="1"/>
          <p:nvPr/>
        </p:nvSpPr>
        <p:spPr>
          <a:xfrm>
            <a:off x="6172200" y="4206240"/>
            <a:ext cx="5394960" cy="685800"/>
          </a:xfrm>
          <a:prstGeom prst="rect">
            <a:avLst/>
          </a:prstGeom>
          <a:noFill/>
          <a:ln/>
        </p:spPr>
        <p:txBody>
          <a:bodyPr wrap="square" lIns="0" tIns="0" rIns="0" bIns="0" rtlCol="0" anchor="ctr"/>
          <a:lstStyle/>
          <a:p>
            <a:pPr indent="0" marL="0">
              <a:lnSpc>
                <a:spcPts val="1500"/>
              </a:lnSpc>
              <a:buNone/>
            </a:pPr>
            <a:r>
              <a:rPr lang="en-US" sz="1250" dirty="0">
                <a:solidFill>
                  <a:srgbClr val="9AA0AE"/>
                </a:solidFill>
                <a:latin typeface="Calibri" pitchFamily="34" charset="0"/>
                <a:ea typeface="Calibri" pitchFamily="34" charset="-122"/>
                <a:cs typeface="Calibri" pitchFamily="34" charset="-120"/>
              </a:rPr>
              <a:t>without a platform holding it hostage — solved by self-custodied vaults</a:t>
            </a:r>
            <a:endParaRPr lang="en-US" sz="1250" dirty="0"/>
          </a:p>
        </p:txBody>
      </p:sp>
      <p:sp>
        <p:nvSpPr>
          <p:cNvPr id="17" name="Shape 12"/>
          <p:cNvSpPr/>
          <p:nvPr/>
        </p:nvSpPr>
        <p:spPr>
          <a:xfrm>
            <a:off x="685800" y="5212080"/>
            <a:ext cx="566928" cy="566928"/>
          </a:xfrm>
          <a:prstGeom prst="ellipse">
            <a:avLst/>
          </a:prstGeom>
          <a:solidFill>
            <a:srgbClr val="1E2029"/>
          </a:solidFill>
          <a:ln w="19050">
            <a:solidFill>
              <a:srgbClr val="5B6BFF"/>
            </a:solidFill>
            <a:prstDash val="solid"/>
          </a:ln>
        </p:spPr>
      </p:sp>
      <p:pic>
        <p:nvPicPr>
          <p:cNvPr id="18" name="Image 3" descr="/tmp/lmx_deck/assets/icon-composability.png">    </p:cNvPr>
          <p:cNvPicPr>
            <a:picLocks noChangeAspect="1"/>
          </p:cNvPicPr>
          <p:nvPr/>
        </p:nvPicPr>
        <p:blipFill>
          <a:blip r:embed="rId4"/>
          <a:stretch>
            <a:fillRect/>
          </a:stretch>
        </p:blipFill>
        <p:spPr>
          <a:xfrm>
            <a:off x="813359" y="5339639"/>
            <a:ext cx="311810" cy="311810"/>
          </a:xfrm>
          <a:prstGeom prst="rect">
            <a:avLst/>
          </a:prstGeom>
        </p:spPr>
      </p:pic>
      <p:sp>
        <p:nvSpPr>
          <p:cNvPr id="19" name="Text 13"/>
          <p:cNvSpPr txBox="1"/>
          <p:nvPr/>
        </p:nvSpPr>
        <p:spPr>
          <a:xfrm>
            <a:off x="1463040" y="5166360"/>
            <a:ext cx="4572000" cy="685800"/>
          </a:xfrm>
          <a:prstGeom prst="rect">
            <a:avLst/>
          </a:prstGeom>
          <a:noFill/>
          <a:ln/>
        </p:spPr>
        <p:txBody>
          <a:bodyPr wrap="square" lIns="0" tIns="0" rIns="0" bIns="0" rtlCol="0" anchor="ctr"/>
          <a:lstStyle/>
          <a:p>
            <a:pPr indent="0" marL="0">
              <a:lnSpc>
                <a:spcPts val="1700"/>
              </a:lnSpc>
              <a:buNone/>
            </a:pPr>
            <a:r>
              <a:rPr lang="en-US" sz="1450" b="1" dirty="0">
                <a:solidFill>
                  <a:srgbClr val="F2F4F8"/>
                </a:solidFill>
                <a:latin typeface="Calibri" pitchFamily="34" charset="0"/>
                <a:ea typeface="Calibri" pitchFamily="34" charset="-122"/>
                <a:cs typeface="Calibri" pitchFamily="34" charset="-120"/>
              </a:rPr>
              <a:t>Agents need to find and call each other</a:t>
            </a:r>
            <a:endParaRPr lang="en-US" sz="1450" dirty="0"/>
          </a:p>
        </p:txBody>
      </p:sp>
      <p:sp>
        <p:nvSpPr>
          <p:cNvPr id="20" name="Text 14"/>
          <p:cNvSpPr txBox="1"/>
          <p:nvPr/>
        </p:nvSpPr>
        <p:spPr>
          <a:xfrm>
            <a:off x="6172200" y="5166360"/>
            <a:ext cx="5394960" cy="685800"/>
          </a:xfrm>
          <a:prstGeom prst="rect">
            <a:avLst/>
          </a:prstGeom>
          <a:noFill/>
          <a:ln/>
        </p:spPr>
        <p:txBody>
          <a:bodyPr wrap="square" lIns="0" tIns="0" rIns="0" bIns="0" rtlCol="0" anchor="ctr"/>
          <a:lstStyle/>
          <a:p>
            <a:pPr indent="0" marL="0">
              <a:lnSpc>
                <a:spcPts val="1500"/>
              </a:lnSpc>
              <a:buNone/>
            </a:pPr>
            <a:r>
              <a:rPr lang="en-US" sz="1250" dirty="0">
                <a:solidFill>
                  <a:srgbClr val="9AA0AE"/>
                </a:solidFill>
                <a:latin typeface="Calibri" pitchFamily="34" charset="0"/>
                <a:ea typeface="Calibri" pitchFamily="34" charset="-122"/>
                <a:cs typeface="Calibri" pitchFamily="34" charset="-120"/>
              </a:rPr>
              <a:t>without a walled-garden API — solved by open, composable protocols</a:t>
            </a:r>
            <a:endParaRPr lang="en-US" sz="1250" dirty="0"/>
          </a:p>
        </p:txBody>
      </p:sp>
      <p:sp>
        <p:nvSpPr>
          <p:cNvPr id="21" name="Text 15"/>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10</a:t>
            </a:r>
            <a:endParaRPr lang="en-US" sz="1100" dirty="0"/>
          </a:p>
        </p:txBody>
      </p:sp>
      <p:pic>
        <p:nvPicPr>
          <p:cNvPr id="22" name="Image 4" descr="/tmp/lmx_deck/assets/logo-icon.png">    </p:cNvPr>
          <p:cNvPicPr>
            <a:picLocks noChangeAspect="1"/>
          </p:cNvPicPr>
          <p:nvPr/>
        </p:nvPicPr>
        <p:blipFill>
          <a:blip r:embed="rId5">
            <a:alphaModFix amt="45000"/>
          </a:blip>
          <a:stretch>
            <a:fillRect/>
          </a:stretch>
        </p:blipFill>
        <p:spPr>
          <a:xfrm>
            <a:off x="11624767" y="6327648"/>
            <a:ext cx="292608" cy="2926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algn="l" indent="0" marL="0">
              <a:buNone/>
            </a:pPr>
            <a:r>
              <a:rPr lang="en-US" sz="1300" b="1" spc="200" kern="0" dirty="0">
                <a:solidFill>
                  <a:srgbClr val="3DD7E5"/>
                </a:solidFill>
                <a:latin typeface="Calibri" pitchFamily="34" charset="0"/>
                <a:ea typeface="Calibri" pitchFamily="34" charset="-122"/>
                <a:cs typeface="Calibri" pitchFamily="34" charset="-120"/>
              </a:rPr>
              <a:t>CURRENT STATE</a:t>
            </a:r>
            <a:endParaRPr lang="en-US" sz="1300" dirty="0"/>
          </a:p>
        </p:txBody>
      </p:sp>
      <p:sp>
        <p:nvSpPr>
          <p:cNvPr id="3" name="Text 1"/>
          <p:cNvSpPr txBox="1"/>
          <p:nvPr/>
        </p:nvSpPr>
        <p:spPr>
          <a:xfrm>
            <a:off x="640080" y="777240"/>
            <a:ext cx="9601200" cy="914400"/>
          </a:xfrm>
          <a:prstGeom prst="rect">
            <a:avLst/>
          </a:prstGeom>
          <a:noFill/>
          <a:ln/>
        </p:spPr>
        <p:txBody>
          <a:bodyPr wrap="square" lIns="0" tIns="0" rIns="0" bIns="0" rtlCol="0" anchor="ctr"/>
          <a:lstStyle/>
          <a:p>
            <a:pPr algn="l" indent="0" marL="0">
              <a:lnSpc>
                <a:spcPts val="3600"/>
              </a:lnSpc>
              <a:buNone/>
            </a:pPr>
            <a:r>
              <a:rPr lang="en-US" sz="3400" b="1" dirty="0">
                <a:solidFill>
                  <a:srgbClr val="F2F4F8"/>
                </a:solidFill>
                <a:latin typeface="Calibri" pitchFamily="34" charset="0"/>
                <a:ea typeface="Calibri" pitchFamily="34" charset="-122"/>
                <a:cs typeface="Calibri" pitchFamily="34" charset="-120"/>
              </a:rPr>
              <a:t>Where LMX Cloud stands today</a:t>
            </a:r>
            <a:endParaRPr lang="en-US" sz="3400" dirty="0"/>
          </a:p>
        </p:txBody>
      </p:sp>
      <p:sp>
        <p:nvSpPr>
          <p:cNvPr id="4" name="Shape 2"/>
          <p:cNvSpPr/>
          <p:nvPr/>
        </p:nvSpPr>
        <p:spPr>
          <a:xfrm>
            <a:off x="640080" y="1600200"/>
            <a:ext cx="5120640" cy="4480560"/>
          </a:xfrm>
          <a:prstGeom prst="roundRect">
            <a:avLst>
              <a:gd name="adj" fmla="val 1837"/>
            </a:avLst>
          </a:prstGeom>
          <a:solidFill>
            <a:srgbClr val="14151C"/>
          </a:solidFill>
          <a:ln w="12700">
            <a:solidFill>
              <a:srgbClr val="2A2D38"/>
            </a:solidFill>
            <a:prstDash val="solid"/>
          </a:ln>
          <a:effectLst>
            <a:outerShdw sx="100000" sy="100000" kx="0" ky="0" algn="bl" rotWithShape="0" blurRad="127000" dist="38100" dir="5400000">
              <a:srgbClr val="000000">
                <a:alpha val="35000"/>
              </a:srgbClr>
            </a:outerShdw>
          </a:effectLst>
        </p:spPr>
      </p:sp>
      <p:sp>
        <p:nvSpPr>
          <p:cNvPr id="5" name="Text 3"/>
          <p:cNvSpPr txBox="1"/>
          <p:nvPr/>
        </p:nvSpPr>
        <p:spPr>
          <a:xfrm>
            <a:off x="914400" y="1828800"/>
            <a:ext cx="4572000" cy="274320"/>
          </a:xfrm>
          <a:prstGeom prst="rect">
            <a:avLst/>
          </a:prstGeom>
          <a:noFill/>
          <a:ln/>
        </p:spPr>
        <p:txBody>
          <a:bodyPr wrap="square" lIns="0" tIns="0" rIns="0" bIns="0" rtlCol="0" anchor="ctr"/>
          <a:lstStyle/>
          <a:p>
            <a:pPr indent="0" marL="0">
              <a:buNone/>
            </a:pPr>
            <a:r>
              <a:rPr lang="en-US" sz="1100" b="1" spc="150" kern="0" dirty="0">
                <a:solidFill>
                  <a:srgbClr val="2BE08C"/>
                </a:solidFill>
                <a:latin typeface="Calibri" pitchFamily="34" charset="0"/>
                <a:ea typeface="Calibri" pitchFamily="34" charset="-122"/>
                <a:cs typeface="Calibri" pitchFamily="34" charset="-120"/>
              </a:rPr>
              <a:t>LIVE TODAY</a:t>
            </a:r>
            <a:endParaRPr lang="en-US" sz="1100" dirty="0"/>
          </a:p>
        </p:txBody>
      </p:sp>
      <p:sp>
        <p:nvSpPr>
          <p:cNvPr id="6" name="Text 4"/>
          <p:cNvSpPr txBox="1"/>
          <p:nvPr/>
        </p:nvSpPr>
        <p:spPr>
          <a:xfrm>
            <a:off x="914400" y="2148840"/>
            <a:ext cx="4572000" cy="411480"/>
          </a:xfrm>
          <a:prstGeom prst="rect">
            <a:avLst/>
          </a:prstGeom>
          <a:noFill/>
          <a:ln/>
        </p:spPr>
        <p:txBody>
          <a:bodyPr wrap="square" lIns="0" tIns="0" rIns="0" bIns="0" rtlCol="0" anchor="ctr"/>
          <a:lstStyle/>
          <a:p>
            <a:pPr indent="0" marL="0">
              <a:buNone/>
            </a:pPr>
            <a:r>
              <a:rPr lang="en-US" sz="1800" b="1" dirty="0">
                <a:solidFill>
                  <a:srgbClr val="F2F4F8"/>
                </a:solidFill>
                <a:latin typeface="Calibri" pitchFamily="34" charset="0"/>
                <a:ea typeface="Calibri" pitchFamily="34" charset="-122"/>
                <a:cs typeface="Calibri" pitchFamily="34" charset="-120"/>
              </a:rPr>
              <a:t>The Inference Router</a:t>
            </a:r>
            <a:endParaRPr lang="en-US" sz="1800" dirty="0"/>
          </a:p>
        </p:txBody>
      </p:sp>
      <p:sp>
        <p:nvSpPr>
          <p:cNvPr id="7" name="Text 5"/>
          <p:cNvSpPr txBox="1"/>
          <p:nvPr/>
        </p:nvSpPr>
        <p:spPr>
          <a:xfrm>
            <a:off x="914400" y="2697480"/>
            <a:ext cx="4572000" cy="182880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300" dirty="0">
                <a:solidFill>
                  <a:srgbClr val="F2F4F8"/>
                </a:solidFill>
                <a:latin typeface="Calibri" pitchFamily="34" charset="0"/>
                <a:ea typeface="Calibri" pitchFamily="34" charset="-122"/>
                <a:cs typeface="Calibri" pitchFamily="34" charset="-120"/>
              </a:rPr>
              <a:t>Multi-provider routing + failover across io.net, Akash, Aethir</a:t>
            </a:r>
            <a:endParaRPr lang="en-US" sz="1300" dirty="0"/>
          </a:p>
          <a:p>
            <a:pPr marL="342900" indent="-342900">
              <a:lnSpc>
                <a:spcPct val="130000"/>
              </a:lnSpc>
              <a:spcAft>
                <a:spcPts val="800"/>
              </a:spcAft>
              <a:buSzPct val="100000"/>
              <a:buChar char="•"/>
            </a:pPr>
            <a:r>
              <a:rPr lang="en-US" sz="1300" dirty="0">
                <a:solidFill>
                  <a:srgbClr val="F2F4F8"/>
                </a:solidFill>
                <a:latin typeface="Calibri" pitchFamily="34" charset="0"/>
                <a:ea typeface="Calibri" pitchFamily="34" charset="-122"/>
                <a:cs typeface="Calibri" pitchFamily="34" charset="-120"/>
              </a:rPr>
              <a:t>30+ models, streaming responses</a:t>
            </a:r>
            <a:endParaRPr lang="en-US" sz="1300" dirty="0"/>
          </a:p>
          <a:p>
            <a:pPr marL="342900" indent="-342900">
              <a:lnSpc>
                <a:spcPct val="130000"/>
              </a:lnSpc>
              <a:spcAft>
                <a:spcPts val="800"/>
              </a:spcAft>
              <a:buSzPct val="100000"/>
              <a:buChar char="•"/>
            </a:pPr>
            <a:r>
              <a:rPr lang="en-US" sz="1300" dirty="0">
                <a:solidFill>
                  <a:srgbClr val="F2F4F8"/>
                </a:solidFill>
                <a:latin typeface="Calibri" pitchFamily="34" charset="0"/>
                <a:ea typeface="Calibri" pitchFamily="34" charset="-122"/>
                <a:cs typeface="Calibri" pitchFamily="34" charset="-120"/>
              </a:rPr>
              <a:t>Wallet sign-in, USDC funding on Base</a:t>
            </a:r>
            <a:endParaRPr lang="en-US" sz="1300" dirty="0"/>
          </a:p>
          <a:p>
            <a:pPr marL="342900" indent="-342900">
              <a:lnSpc>
                <a:spcPct val="130000"/>
              </a:lnSpc>
              <a:spcAft>
                <a:spcPts val="800"/>
              </a:spcAft>
              <a:buSzPct val="100000"/>
              <a:buChar char="•"/>
            </a:pPr>
            <a:r>
              <a:rPr lang="en-US" sz="1300" dirty="0">
                <a:solidFill>
                  <a:srgbClr val="F2F4F8"/>
                </a:solidFill>
                <a:latin typeface="Calibri" pitchFamily="34" charset="0"/>
                <a:ea typeface="Calibri" pitchFamily="34" charset="-122"/>
                <a:cs typeface="Calibri" pitchFamily="34" charset="-120"/>
              </a:rPr>
              <a:t>x402 pay-per-call already wired</a:t>
            </a:r>
            <a:endParaRPr lang="en-US" sz="1300" dirty="0"/>
          </a:p>
        </p:txBody>
      </p:sp>
      <p:sp>
        <p:nvSpPr>
          <p:cNvPr id="8" name="Text 6"/>
          <p:cNvSpPr txBox="1"/>
          <p:nvPr/>
        </p:nvSpPr>
        <p:spPr>
          <a:xfrm>
            <a:off x="914400" y="4663440"/>
            <a:ext cx="4572000" cy="1188720"/>
          </a:xfrm>
          <a:prstGeom prst="rect">
            <a:avLst/>
          </a:prstGeom>
          <a:noFill/>
          <a:ln/>
        </p:spPr>
        <p:txBody>
          <a:bodyPr wrap="square" lIns="0" tIns="0" rIns="0" bIns="0" rtlCol="0" anchor="ctr"/>
          <a:lstStyle/>
          <a:p>
            <a:pPr indent="0" marL="0">
              <a:lnSpc>
                <a:spcPts val="1500"/>
              </a:lnSpc>
              <a:buNone/>
            </a:pPr>
            <a:r>
              <a:rPr lang="en-US" sz="1200" i="1" dirty="0">
                <a:solidFill>
                  <a:srgbClr val="9AA0AE"/>
                </a:solidFill>
                <a:latin typeface="Calibri" pitchFamily="34" charset="0"/>
                <a:ea typeface="Calibri" pitchFamily="34" charset="-122"/>
                <a:cs typeface="Calibri" pitchFamily="34" charset="-120"/>
              </a:rPr>
              <a:t>This is the wedge, not the whole business—it’s how developers walk through the door.</a:t>
            </a:r>
            <a:endParaRPr lang="en-US" sz="1200" dirty="0"/>
          </a:p>
        </p:txBody>
      </p:sp>
      <p:sp>
        <p:nvSpPr>
          <p:cNvPr id="9" name="Shape 7"/>
          <p:cNvSpPr/>
          <p:nvPr/>
        </p:nvSpPr>
        <p:spPr>
          <a:xfrm>
            <a:off x="6172200" y="1600200"/>
            <a:ext cx="5394960" cy="4480560"/>
          </a:xfrm>
          <a:prstGeom prst="roundRect">
            <a:avLst>
              <a:gd name="adj" fmla="val 1837"/>
            </a:avLst>
          </a:prstGeom>
          <a:solidFill>
            <a:srgbClr val="1E2029"/>
          </a:solidFill>
          <a:ln w="12700">
            <a:solidFill>
              <a:srgbClr val="5B6BFF"/>
            </a:solidFill>
            <a:prstDash val="solid"/>
          </a:ln>
          <a:effectLst>
            <a:outerShdw sx="100000" sy="100000" kx="0" ky="0" algn="bl" rotWithShape="0" blurRad="127000" dist="38100" dir="5400000">
              <a:srgbClr val="000000">
                <a:alpha val="35000"/>
              </a:srgbClr>
            </a:outerShdw>
          </a:effectLst>
        </p:spPr>
      </p:sp>
      <p:sp>
        <p:nvSpPr>
          <p:cNvPr id="10" name="Text 8"/>
          <p:cNvSpPr txBox="1"/>
          <p:nvPr/>
        </p:nvSpPr>
        <p:spPr>
          <a:xfrm>
            <a:off x="6446520" y="1828800"/>
            <a:ext cx="4846320" cy="274320"/>
          </a:xfrm>
          <a:prstGeom prst="rect">
            <a:avLst/>
          </a:prstGeom>
          <a:noFill/>
          <a:ln/>
        </p:spPr>
        <p:txBody>
          <a:bodyPr wrap="square" lIns="0" tIns="0" rIns="0" bIns="0" rtlCol="0" anchor="ctr"/>
          <a:lstStyle/>
          <a:p>
            <a:pPr indent="0" marL="0">
              <a:buNone/>
            </a:pPr>
            <a:r>
              <a:rPr lang="en-US" sz="1100" b="1" spc="150" kern="0" dirty="0">
                <a:solidFill>
                  <a:srgbClr val="7886FF"/>
                </a:solidFill>
                <a:latin typeface="Calibri" pitchFamily="34" charset="0"/>
                <a:ea typeface="Calibri" pitchFamily="34" charset="-122"/>
                <a:cs typeface="Calibri" pitchFamily="34" charset="-120"/>
              </a:rPr>
              <a:t>BUILDING NOW</a:t>
            </a:r>
            <a:endParaRPr lang="en-US" sz="1100" dirty="0"/>
          </a:p>
        </p:txBody>
      </p:sp>
      <p:sp>
        <p:nvSpPr>
          <p:cNvPr id="11" name="Text 9"/>
          <p:cNvSpPr txBox="1"/>
          <p:nvPr/>
        </p:nvSpPr>
        <p:spPr>
          <a:xfrm>
            <a:off x="6446520" y="2148840"/>
            <a:ext cx="4846320" cy="411480"/>
          </a:xfrm>
          <a:prstGeom prst="rect">
            <a:avLst/>
          </a:prstGeom>
          <a:noFill/>
          <a:ln/>
        </p:spPr>
        <p:txBody>
          <a:bodyPr wrap="square" lIns="0" tIns="0" rIns="0" bIns="0" rtlCol="0" anchor="ctr"/>
          <a:lstStyle/>
          <a:p>
            <a:pPr indent="0" marL="0">
              <a:buNone/>
            </a:pPr>
            <a:r>
              <a:rPr lang="en-US" sz="1800" b="1" dirty="0">
                <a:solidFill>
                  <a:srgbClr val="F2F4F8"/>
                </a:solidFill>
                <a:latin typeface="Calibri" pitchFamily="34" charset="0"/>
                <a:ea typeface="Calibri" pitchFamily="34" charset="-122"/>
                <a:cs typeface="Calibri" pitchFamily="34" charset="-120"/>
              </a:rPr>
              <a:t>The Rest of the Stack</a:t>
            </a:r>
            <a:endParaRPr lang="en-US" sz="1800" dirty="0"/>
          </a:p>
        </p:txBody>
      </p:sp>
      <p:sp>
        <p:nvSpPr>
          <p:cNvPr id="12" name="Text 10"/>
          <p:cNvSpPr txBox="1"/>
          <p:nvPr/>
        </p:nvSpPr>
        <p:spPr>
          <a:xfrm>
            <a:off x="6446520" y="2697480"/>
            <a:ext cx="4846320" cy="182880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300" dirty="0">
                <a:solidFill>
                  <a:srgbClr val="F2F4F8"/>
                </a:solidFill>
                <a:latin typeface="Calibri" pitchFamily="34" charset="0"/>
                <a:ea typeface="Calibri" pitchFamily="34" charset="-122"/>
                <a:cs typeface="Calibri" pitchFamily="34" charset="-120"/>
              </a:rPr>
              <a:t>Vault: own-namespace storage shipped; paid cross-agent reads next</a:t>
            </a:r>
            <a:endParaRPr lang="en-US" sz="1300" dirty="0"/>
          </a:p>
          <a:p>
            <a:pPr marL="342900" indent="-342900">
              <a:lnSpc>
                <a:spcPct val="130000"/>
              </a:lnSpc>
              <a:spcAft>
                <a:spcPts val="800"/>
              </a:spcAft>
              <a:buSzPct val="100000"/>
              <a:buChar char="•"/>
            </a:pPr>
            <a:r>
              <a:rPr lang="en-US" sz="1300" dirty="0">
                <a:solidFill>
                  <a:srgbClr val="F2F4F8"/>
                </a:solidFill>
                <a:latin typeface="Calibri" pitchFamily="34" charset="0"/>
                <a:ea typeface="Calibri" pitchFamily="34" charset="-122"/>
                <a:cs typeface="Calibri" pitchFamily="34" charset="-120"/>
              </a:rPr>
              <a:t>lmx-agent-template: reusable framework, marketing agent as flagship</a:t>
            </a:r>
            <a:endParaRPr lang="en-US" sz="1300" dirty="0"/>
          </a:p>
          <a:p>
            <a:pPr marL="342900" indent="-342900">
              <a:lnSpc>
                <a:spcPct val="130000"/>
              </a:lnSpc>
              <a:spcAft>
                <a:spcPts val="800"/>
              </a:spcAft>
              <a:buSzPct val="100000"/>
              <a:buChar char="•"/>
            </a:pPr>
            <a:r>
              <a:rPr lang="en-US" sz="1300" dirty="0">
                <a:solidFill>
                  <a:srgbClr val="F2F4F8"/>
                </a:solidFill>
                <a:latin typeface="Calibri" pitchFamily="34" charset="0"/>
                <a:ea typeface="Calibri" pitchFamily="34" charset="-122"/>
                <a:cs typeface="Calibri" pitchFamily="34" charset="-120"/>
              </a:rPr>
              <a:t>MCP function registry: marketplace + third-party sellers</a:t>
            </a:r>
            <a:endParaRPr lang="en-US" sz="1300" dirty="0"/>
          </a:p>
        </p:txBody>
      </p:sp>
      <p:sp>
        <p:nvSpPr>
          <p:cNvPr id="13" name="Text 11"/>
          <p:cNvSpPr txBox="1"/>
          <p:nvPr/>
        </p:nvSpPr>
        <p:spPr>
          <a:xfrm>
            <a:off x="6446520" y="4663440"/>
            <a:ext cx="4846320" cy="1188720"/>
          </a:xfrm>
          <a:prstGeom prst="rect">
            <a:avLst/>
          </a:prstGeom>
          <a:noFill/>
          <a:ln/>
        </p:spPr>
        <p:txBody>
          <a:bodyPr wrap="square" lIns="0" tIns="0" rIns="0" bIns="0" rtlCol="0" anchor="ctr"/>
          <a:lstStyle/>
          <a:p>
            <a:pPr indent="0" marL="0">
              <a:lnSpc>
                <a:spcPts val="1500"/>
              </a:lnSpc>
              <a:buNone/>
            </a:pPr>
            <a:r>
              <a:rPr lang="en-US" sz="1200" i="1" dirty="0">
                <a:solidFill>
                  <a:srgbClr val="9AA0AE"/>
                </a:solidFill>
                <a:latin typeface="Calibri" pitchFamily="34" charset="0"/>
                <a:ea typeface="Calibri" pitchFamily="34" charset="-122"/>
                <a:cs typeface="Calibri" pitchFamily="34" charset="-120"/>
              </a:rPr>
              <a:t>North star: a cashflow-positive Cloud with a real developer ecosystem—every goal ladders up to that.</a:t>
            </a:r>
            <a:endParaRPr lang="en-US" sz="1200" dirty="0"/>
          </a:p>
        </p:txBody>
      </p:sp>
      <p:sp>
        <p:nvSpPr>
          <p:cNvPr id="14" name="Text 12"/>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11</a:t>
            </a:r>
            <a:endParaRPr lang="en-US" sz="1100" dirty="0"/>
          </a:p>
        </p:txBody>
      </p:sp>
      <p:pic>
        <p:nvPicPr>
          <p:cNvPr id="15" name="Image 0" descr="/tmp/lmx_deck/assets/logo-icon.png">    </p:cNvPr>
          <p:cNvPicPr>
            <a:picLocks noChangeAspect="1"/>
          </p:cNvPicPr>
          <p:nvPr/>
        </p:nvPicPr>
        <p:blipFill>
          <a:blip r:embed="rId1">
            <a:alphaModFix amt="45000"/>
          </a:blip>
          <a:stretch>
            <a:fillRect/>
          </a:stretch>
        </p:blipFill>
        <p:spPr>
          <a:xfrm>
            <a:off x="11624767" y="6327648"/>
            <a:ext cx="292608" cy="2926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5120640"/>
            <a:ext cx="822960" cy="457200"/>
          </a:xfrm>
          <a:prstGeom prst="line">
            <a:avLst/>
          </a:prstGeom>
          <a:noFill/>
          <a:ln w="9525">
            <a:solidFill>
              <a:srgbClr val="3A3D4A">
                <a:alpha val="65000"/>
              </a:srgbClr>
            </a:solidFill>
            <a:prstDash val="solid"/>
          </a:ln>
        </p:spPr>
      </p:sp>
      <p:sp>
        <p:nvSpPr>
          <p:cNvPr id="3" name="Shape 1"/>
          <p:cNvSpPr/>
          <p:nvPr/>
        </p:nvSpPr>
        <p:spPr>
          <a:xfrm flipV="1">
            <a:off x="457200" y="5577840"/>
            <a:ext cx="1097280" cy="457200"/>
          </a:xfrm>
          <a:prstGeom prst="line">
            <a:avLst/>
          </a:prstGeom>
          <a:noFill/>
          <a:ln w="9525">
            <a:solidFill>
              <a:srgbClr val="3A3D4A">
                <a:alpha val="65000"/>
              </a:srgbClr>
            </a:solidFill>
            <a:prstDash val="solid"/>
          </a:ln>
        </p:spPr>
      </p:sp>
      <p:sp>
        <p:nvSpPr>
          <p:cNvPr id="4" name="Shape 2"/>
          <p:cNvSpPr/>
          <p:nvPr/>
        </p:nvSpPr>
        <p:spPr>
          <a:xfrm>
            <a:off x="1554480" y="5577840"/>
            <a:ext cx="182880" cy="640080"/>
          </a:xfrm>
          <a:prstGeom prst="line">
            <a:avLst/>
          </a:prstGeom>
          <a:noFill/>
          <a:ln w="9525">
            <a:solidFill>
              <a:srgbClr val="3A3D4A">
                <a:alpha val="65000"/>
              </a:srgbClr>
            </a:solidFill>
            <a:prstDash val="solid"/>
          </a:ln>
        </p:spPr>
      </p:sp>
      <p:sp>
        <p:nvSpPr>
          <p:cNvPr id="5" name="Shape 3"/>
          <p:cNvSpPr/>
          <p:nvPr/>
        </p:nvSpPr>
        <p:spPr>
          <a:xfrm flipV="1">
            <a:off x="1737360" y="5669280"/>
            <a:ext cx="640080" cy="548640"/>
          </a:xfrm>
          <a:prstGeom prst="line">
            <a:avLst/>
          </a:prstGeom>
          <a:noFill/>
          <a:ln w="9525">
            <a:solidFill>
              <a:srgbClr val="3A3D4A">
                <a:alpha val="65000"/>
              </a:srgbClr>
            </a:solidFill>
            <a:prstDash val="solid"/>
          </a:ln>
        </p:spPr>
      </p:sp>
      <p:sp>
        <p:nvSpPr>
          <p:cNvPr id="6" name="Shape 4"/>
          <p:cNvSpPr/>
          <p:nvPr/>
        </p:nvSpPr>
        <p:spPr>
          <a:xfrm flipV="1">
            <a:off x="1005840" y="5577840"/>
            <a:ext cx="548640" cy="777240"/>
          </a:xfrm>
          <a:prstGeom prst="line">
            <a:avLst/>
          </a:prstGeom>
          <a:noFill/>
          <a:ln w="9525">
            <a:solidFill>
              <a:srgbClr val="3A3D4A">
                <a:alpha val="65000"/>
              </a:srgbClr>
            </a:solidFill>
            <a:prstDash val="solid"/>
          </a:ln>
        </p:spPr>
      </p:sp>
      <p:sp>
        <p:nvSpPr>
          <p:cNvPr id="7" name="Shape 5"/>
          <p:cNvSpPr/>
          <p:nvPr/>
        </p:nvSpPr>
        <p:spPr>
          <a:xfrm>
            <a:off x="457200" y="6035040"/>
            <a:ext cx="548640" cy="320040"/>
          </a:xfrm>
          <a:prstGeom prst="line">
            <a:avLst/>
          </a:prstGeom>
          <a:noFill/>
          <a:ln w="9525">
            <a:solidFill>
              <a:srgbClr val="3A3D4A">
                <a:alpha val="65000"/>
              </a:srgbClr>
            </a:solidFill>
            <a:prstDash val="solid"/>
          </a:ln>
        </p:spPr>
      </p:sp>
      <p:sp>
        <p:nvSpPr>
          <p:cNvPr id="8" name="Shape 6"/>
          <p:cNvSpPr/>
          <p:nvPr/>
        </p:nvSpPr>
        <p:spPr>
          <a:xfrm>
            <a:off x="699516" y="5088636"/>
            <a:ext cx="64008" cy="64008"/>
          </a:xfrm>
          <a:prstGeom prst="ellipse">
            <a:avLst/>
          </a:prstGeom>
          <a:solidFill>
            <a:srgbClr val="3DD7E5">
              <a:alpha val="75000"/>
            </a:srgbClr>
          </a:solidFill>
          <a:ln/>
        </p:spPr>
      </p:sp>
      <p:sp>
        <p:nvSpPr>
          <p:cNvPr id="9" name="Shape 7"/>
          <p:cNvSpPr/>
          <p:nvPr/>
        </p:nvSpPr>
        <p:spPr>
          <a:xfrm>
            <a:off x="1522476" y="5545836"/>
            <a:ext cx="64008" cy="64008"/>
          </a:xfrm>
          <a:prstGeom prst="ellipse">
            <a:avLst/>
          </a:prstGeom>
          <a:solidFill>
            <a:srgbClr val="3DD7E5">
              <a:alpha val="75000"/>
            </a:srgbClr>
          </a:solidFill>
          <a:ln/>
        </p:spPr>
      </p:sp>
      <p:sp>
        <p:nvSpPr>
          <p:cNvPr id="10" name="Shape 8"/>
          <p:cNvSpPr/>
          <p:nvPr/>
        </p:nvSpPr>
        <p:spPr>
          <a:xfrm>
            <a:off x="425196" y="6003036"/>
            <a:ext cx="64008" cy="64008"/>
          </a:xfrm>
          <a:prstGeom prst="ellipse">
            <a:avLst/>
          </a:prstGeom>
          <a:solidFill>
            <a:srgbClr val="3DD7E5">
              <a:alpha val="75000"/>
            </a:srgbClr>
          </a:solidFill>
          <a:ln/>
        </p:spPr>
      </p:sp>
      <p:sp>
        <p:nvSpPr>
          <p:cNvPr id="11" name="Shape 9"/>
          <p:cNvSpPr/>
          <p:nvPr/>
        </p:nvSpPr>
        <p:spPr>
          <a:xfrm>
            <a:off x="1705356" y="6185916"/>
            <a:ext cx="64008" cy="64008"/>
          </a:xfrm>
          <a:prstGeom prst="ellipse">
            <a:avLst/>
          </a:prstGeom>
          <a:solidFill>
            <a:srgbClr val="3DD7E5">
              <a:alpha val="75000"/>
            </a:srgbClr>
          </a:solidFill>
          <a:ln/>
        </p:spPr>
      </p:sp>
      <p:sp>
        <p:nvSpPr>
          <p:cNvPr id="12" name="Shape 10"/>
          <p:cNvSpPr/>
          <p:nvPr/>
        </p:nvSpPr>
        <p:spPr>
          <a:xfrm>
            <a:off x="2345436" y="5637276"/>
            <a:ext cx="64008" cy="64008"/>
          </a:xfrm>
          <a:prstGeom prst="ellipse">
            <a:avLst/>
          </a:prstGeom>
          <a:solidFill>
            <a:srgbClr val="3DD7E5">
              <a:alpha val="75000"/>
            </a:srgbClr>
          </a:solidFill>
          <a:ln/>
        </p:spPr>
      </p:sp>
      <p:sp>
        <p:nvSpPr>
          <p:cNvPr id="13" name="Shape 11"/>
          <p:cNvSpPr/>
          <p:nvPr/>
        </p:nvSpPr>
        <p:spPr>
          <a:xfrm>
            <a:off x="973836" y="6323076"/>
            <a:ext cx="64008" cy="64008"/>
          </a:xfrm>
          <a:prstGeom prst="ellipse">
            <a:avLst/>
          </a:prstGeom>
          <a:solidFill>
            <a:srgbClr val="3DD7E5">
              <a:alpha val="75000"/>
            </a:srgbClr>
          </a:solidFill>
          <a:ln/>
        </p:spPr>
      </p:sp>
      <p:pic>
        <p:nvPicPr>
          <p:cNvPr id="14" name="Image 0" descr="/tmp/lmx_deck/assets/logo-icon.png">    </p:cNvPr>
          <p:cNvPicPr>
            <a:picLocks noChangeAspect="1"/>
          </p:cNvPicPr>
          <p:nvPr/>
        </p:nvPicPr>
        <p:blipFill>
          <a:blip r:embed="rId1"/>
          <a:stretch>
            <a:fillRect/>
          </a:stretch>
        </p:blipFill>
        <p:spPr>
          <a:xfrm>
            <a:off x="5413248" y="685800"/>
            <a:ext cx="1371600" cy="1371600"/>
          </a:xfrm>
          <a:prstGeom prst="rect">
            <a:avLst/>
          </a:prstGeom>
        </p:spPr>
      </p:pic>
      <p:sp>
        <p:nvSpPr>
          <p:cNvPr id="15" name="Text 12"/>
          <p:cNvSpPr txBox="1"/>
          <p:nvPr/>
        </p:nvSpPr>
        <p:spPr>
          <a:xfrm>
            <a:off x="914400" y="2286000"/>
            <a:ext cx="10332720" cy="548640"/>
          </a:xfrm>
          <a:prstGeom prst="rect">
            <a:avLst/>
          </a:prstGeom>
          <a:noFill/>
          <a:ln/>
        </p:spPr>
        <p:txBody>
          <a:bodyPr wrap="square" lIns="0" tIns="0" rIns="0" bIns="0" rtlCol="0" anchor="ctr"/>
          <a:lstStyle/>
          <a:p>
            <a:pPr algn="ctr" indent="0" marL="0">
              <a:buNone/>
            </a:pPr>
            <a:r>
              <a:rPr lang="en-US" sz="1500" b="1" spc="150" kern="0" dirty="0">
                <a:solidFill>
                  <a:srgbClr val="3DD7E5"/>
                </a:solidFill>
                <a:latin typeface="Calibri" pitchFamily="34" charset="0"/>
                <a:ea typeface="Calibri" pitchFamily="34" charset="-122"/>
                <a:cs typeface="Calibri" pitchFamily="34" charset="-120"/>
              </a:rPr>
              <a:t>Decentralized. Verifiable. Programmable.</a:t>
            </a:r>
            <a:endParaRPr lang="en-US" sz="1500" dirty="0"/>
          </a:p>
        </p:txBody>
      </p:sp>
      <p:sp>
        <p:nvSpPr>
          <p:cNvPr id="16" name="Text 13"/>
          <p:cNvSpPr txBox="1"/>
          <p:nvPr/>
        </p:nvSpPr>
        <p:spPr>
          <a:xfrm>
            <a:off x="914400" y="2788920"/>
            <a:ext cx="10332720" cy="777240"/>
          </a:xfrm>
          <a:prstGeom prst="rect">
            <a:avLst/>
          </a:prstGeom>
          <a:noFill/>
          <a:ln/>
        </p:spPr>
        <p:txBody>
          <a:bodyPr wrap="square" lIns="0" tIns="0" rIns="0" bIns="0" rtlCol="0" anchor="ctr"/>
          <a:lstStyle/>
          <a:p>
            <a:pPr algn="ctr" indent="0" marL="0">
              <a:lnSpc>
                <a:spcPts val="3400"/>
              </a:lnSpc>
              <a:buNone/>
            </a:pPr>
            <a:r>
              <a:rPr lang="en-US" sz="3000" b="1" dirty="0">
                <a:solidFill>
                  <a:srgbClr val="F2F4F8"/>
                </a:solidFill>
                <a:latin typeface="Calibri" pitchFamily="34" charset="0"/>
                <a:ea typeface="Calibri" pitchFamily="34" charset="-122"/>
                <a:cs typeface="Calibri" pitchFamily="34" charset="-120"/>
              </a:rPr>
              <a:t>That’s not marketing copy—it’s the architecture.</a:t>
            </a:r>
            <a:endParaRPr lang="en-US" sz="3000" dirty="0"/>
          </a:p>
        </p:txBody>
      </p:sp>
      <p:sp>
        <p:nvSpPr>
          <p:cNvPr id="17" name="Text 14"/>
          <p:cNvSpPr txBox="1"/>
          <p:nvPr/>
        </p:nvSpPr>
        <p:spPr>
          <a:xfrm>
            <a:off x="1828800" y="3703320"/>
            <a:ext cx="8531352" cy="457200"/>
          </a:xfrm>
          <a:prstGeom prst="rect">
            <a:avLst/>
          </a:prstGeom>
          <a:noFill/>
          <a:ln/>
        </p:spPr>
        <p:txBody>
          <a:bodyPr wrap="square" lIns="0" tIns="0" rIns="0" bIns="0" rtlCol="0" anchor="ctr"/>
          <a:lstStyle/>
          <a:p>
            <a:pPr algn="ctr" indent="0" marL="0">
              <a:buNone/>
            </a:pPr>
            <a:r>
              <a:rPr lang="en-US" sz="1400" dirty="0">
                <a:solidFill>
                  <a:srgbClr val="9AA0AE"/>
                </a:solidFill>
                <a:latin typeface="Calibri" pitchFamily="34" charset="0"/>
                <a:ea typeface="Calibri" pitchFamily="34" charset="-122"/>
                <a:cs typeface="Calibri" pitchFamily="34" charset="-120"/>
              </a:rPr>
              <a:t>Try the inference router, fork the agent template, or follow the build.</a:t>
            </a:r>
            <a:endParaRPr lang="en-US" sz="1400" dirty="0"/>
          </a:p>
        </p:txBody>
      </p:sp>
      <p:sp>
        <p:nvSpPr>
          <p:cNvPr id="18" name="Shape 15"/>
          <p:cNvSpPr/>
          <p:nvPr/>
        </p:nvSpPr>
        <p:spPr>
          <a:xfrm>
            <a:off x="1432408" y="4434840"/>
            <a:ext cx="2926080" cy="594360"/>
          </a:xfrm>
          <a:prstGeom prst="roundRect">
            <a:avLst>
              <a:gd name="adj" fmla="val 13846"/>
            </a:avLst>
          </a:prstGeom>
          <a:solidFill>
            <a:srgbClr val="14151C"/>
          </a:solidFill>
          <a:ln w="12700">
            <a:solidFill>
              <a:srgbClr val="2A2D38"/>
            </a:solidFill>
            <a:prstDash val="solid"/>
          </a:ln>
        </p:spPr>
      </p:sp>
      <p:sp>
        <p:nvSpPr>
          <p:cNvPr id="19" name="Text 16"/>
          <p:cNvSpPr txBox="1"/>
          <p:nvPr/>
        </p:nvSpPr>
        <p:spPr>
          <a:xfrm>
            <a:off x="1432408" y="4434840"/>
            <a:ext cx="2926080" cy="594360"/>
          </a:xfrm>
          <a:prstGeom prst="rect">
            <a:avLst/>
          </a:prstGeom>
          <a:noFill/>
          <a:ln/>
        </p:spPr>
        <p:txBody>
          <a:bodyPr wrap="square" lIns="0" tIns="0" rIns="0" bIns="0" rtlCol="0" anchor="ctr"/>
          <a:lstStyle/>
          <a:p>
            <a:pPr algn="ctr" indent="0" marL="0">
              <a:buNone/>
            </a:pPr>
            <a:r>
              <a:rPr lang="en-US" sz="1300" b="1" dirty="0">
                <a:solidFill>
                  <a:srgbClr val="F2F4F8"/>
                </a:solidFill>
                <a:latin typeface="Calibri" pitchFamily="34" charset="0"/>
                <a:ea typeface="Calibri" pitchFamily="34" charset="-122"/>
                <a:cs typeface="Calibri" pitchFamily="34" charset="-120"/>
              </a:rPr>
              <a:t>lmxcloud.io</a:t>
            </a:r>
            <a:endParaRPr lang="en-US" sz="1300" dirty="0"/>
          </a:p>
        </p:txBody>
      </p:sp>
      <p:sp>
        <p:nvSpPr>
          <p:cNvPr id="20" name="Shape 17"/>
          <p:cNvSpPr/>
          <p:nvPr/>
        </p:nvSpPr>
        <p:spPr>
          <a:xfrm>
            <a:off x="4632808" y="4434840"/>
            <a:ext cx="2926080" cy="594360"/>
          </a:xfrm>
          <a:prstGeom prst="roundRect">
            <a:avLst>
              <a:gd name="adj" fmla="val 13846"/>
            </a:avLst>
          </a:prstGeom>
          <a:solidFill>
            <a:srgbClr val="14151C"/>
          </a:solidFill>
          <a:ln w="12700">
            <a:solidFill>
              <a:srgbClr val="2A2D38"/>
            </a:solidFill>
            <a:prstDash val="solid"/>
          </a:ln>
        </p:spPr>
      </p:sp>
      <p:sp>
        <p:nvSpPr>
          <p:cNvPr id="21" name="Text 18"/>
          <p:cNvSpPr txBox="1"/>
          <p:nvPr/>
        </p:nvSpPr>
        <p:spPr>
          <a:xfrm>
            <a:off x="4632808" y="4434840"/>
            <a:ext cx="2926080" cy="594360"/>
          </a:xfrm>
          <a:prstGeom prst="rect">
            <a:avLst/>
          </a:prstGeom>
          <a:noFill/>
          <a:ln/>
        </p:spPr>
        <p:txBody>
          <a:bodyPr wrap="square" lIns="0" tIns="0" rIns="0" bIns="0" rtlCol="0" anchor="ctr"/>
          <a:lstStyle/>
          <a:p>
            <a:pPr algn="ctr" indent="0" marL="0">
              <a:buNone/>
            </a:pPr>
            <a:r>
              <a:rPr lang="en-US" sz="1300" b="1" dirty="0">
                <a:solidFill>
                  <a:srgbClr val="F2F4F8"/>
                </a:solidFill>
                <a:latin typeface="Calibri" pitchFamily="34" charset="0"/>
                <a:ea typeface="Calibri" pitchFamily="34" charset="-122"/>
                <a:cs typeface="Calibri" pitchFamily="34" charset="-120"/>
              </a:rPr>
              <a:t>@LMXCloudio</a:t>
            </a:r>
            <a:endParaRPr lang="en-US" sz="1300" dirty="0"/>
          </a:p>
        </p:txBody>
      </p:sp>
      <p:sp>
        <p:nvSpPr>
          <p:cNvPr id="22" name="Shape 19"/>
          <p:cNvSpPr/>
          <p:nvPr/>
        </p:nvSpPr>
        <p:spPr>
          <a:xfrm>
            <a:off x="7833208" y="4434840"/>
            <a:ext cx="2926080" cy="594360"/>
          </a:xfrm>
          <a:prstGeom prst="roundRect">
            <a:avLst>
              <a:gd name="adj" fmla="val 13846"/>
            </a:avLst>
          </a:prstGeom>
          <a:solidFill>
            <a:srgbClr val="14151C"/>
          </a:solidFill>
          <a:ln w="12700">
            <a:solidFill>
              <a:srgbClr val="2A2D38"/>
            </a:solidFill>
            <a:prstDash val="solid"/>
          </a:ln>
        </p:spPr>
      </p:sp>
      <p:sp>
        <p:nvSpPr>
          <p:cNvPr id="23" name="Text 20"/>
          <p:cNvSpPr txBox="1"/>
          <p:nvPr/>
        </p:nvSpPr>
        <p:spPr>
          <a:xfrm>
            <a:off x="7833208" y="4434840"/>
            <a:ext cx="2926080" cy="594360"/>
          </a:xfrm>
          <a:prstGeom prst="rect">
            <a:avLst/>
          </a:prstGeom>
          <a:noFill/>
          <a:ln/>
        </p:spPr>
        <p:txBody>
          <a:bodyPr wrap="square" lIns="0" tIns="0" rIns="0" bIns="0" rtlCol="0" anchor="ctr"/>
          <a:lstStyle/>
          <a:p>
            <a:pPr algn="ctr" indent="0" marL="0">
              <a:buNone/>
            </a:pPr>
            <a:r>
              <a:rPr lang="en-US" sz="1300" b="1" dirty="0">
                <a:solidFill>
                  <a:srgbClr val="F2F4F8"/>
                </a:solidFill>
                <a:latin typeface="Calibri" pitchFamily="34" charset="0"/>
                <a:ea typeface="Calibri" pitchFamily="34" charset="-122"/>
                <a:cs typeface="Calibri" pitchFamily="34" charset="-120"/>
              </a:rPr>
              <a:t>github.com/LMXCloud</a:t>
            </a:r>
            <a:endParaRPr lang="en-US" sz="1300" dirty="0"/>
          </a:p>
        </p:txBody>
      </p:sp>
      <p:sp>
        <p:nvSpPr>
          <p:cNvPr id="24" name="Text 21"/>
          <p:cNvSpPr txBox="1"/>
          <p:nvPr/>
        </p:nvSpPr>
        <p:spPr>
          <a:xfrm>
            <a:off x="11277295" y="6355080"/>
            <a:ext cx="548640" cy="320040"/>
          </a:xfrm>
          <a:prstGeom prst="rect">
            <a:avLst/>
          </a:prstGeom>
          <a:noFill/>
          <a:ln/>
        </p:spPr>
        <p:txBody>
          <a:bodyPr wrap="square" lIns="0" tIns="0" rIns="0" bIns="0" rtlCol="0" anchor="ctr"/>
          <a:lstStyle/>
          <a:p>
            <a:pPr algn="r" indent="0" marL="0">
              <a:buNone/>
            </a:pPr>
            <a:r>
              <a:rPr lang="en-US" sz="1100" dirty="0">
                <a:solidFill>
                  <a:srgbClr val="5C6170"/>
                </a:solidFill>
                <a:latin typeface="Calibri" pitchFamily="34" charset="0"/>
                <a:ea typeface="Calibri" pitchFamily="34" charset="-122"/>
                <a:cs typeface="Calibri" pitchFamily="34" charset="-120"/>
              </a:rPr>
              <a:t>12</a:t>
            </a:r>
            <a:endParaRPr lang="en-US" sz="1100" dirty="0"/>
          </a:p>
        </p:txBody>
      </p:sp>
      <p:pic>
        <p:nvPicPr>
          <p:cNvPr id="25" name="Image 1" descr="/tmp/lmx_deck/assets/logo-icon.png">    </p:cNvPr>
          <p:cNvPicPr>
            <a:picLocks noChangeAspect="1"/>
          </p:cNvPicPr>
          <p:nvPr/>
        </p:nvPicPr>
        <p:blipFill>
          <a:blip r:embed="rId2">
            <a:alphaModFix amt="45000"/>
          </a:blip>
          <a:stretch>
            <a:fillRect/>
          </a:stretch>
        </p:blipFill>
        <p:spPr>
          <a:xfrm>
            <a:off x="11624767" y="6327648"/>
            <a:ext cx="292608" cy="2926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2026-09-01T19:02:59Z</dcterms:created>
  <dcterms:modified xsi:type="dcterms:W3CDTF">2026-09-01T19:02:59Z</dcterms:modified>
</cp:coreProperties>
</file>